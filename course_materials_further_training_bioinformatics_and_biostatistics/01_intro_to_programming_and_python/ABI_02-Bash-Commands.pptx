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548" r:id="rId6"/>
    <p:sldId id="547" r:id="rId7"/>
    <p:sldId id="550" r:id="rId8"/>
    <p:sldId id="549" r:id="rId9"/>
    <p:sldId id="576" r:id="rId10"/>
    <p:sldId id="551" r:id="rId11"/>
    <p:sldId id="260" r:id="rId12"/>
    <p:sldId id="261" r:id="rId13"/>
    <p:sldId id="262" r:id="rId14"/>
    <p:sldId id="263" r:id="rId15"/>
    <p:sldId id="264" r:id="rId16"/>
    <p:sldId id="552" r:id="rId17"/>
    <p:sldId id="265" r:id="rId18"/>
    <p:sldId id="266" r:id="rId19"/>
    <p:sldId id="553" r:id="rId20"/>
    <p:sldId id="267" r:id="rId21"/>
    <p:sldId id="268" r:id="rId22"/>
    <p:sldId id="269" r:id="rId23"/>
    <p:sldId id="270" r:id="rId24"/>
    <p:sldId id="272" r:id="rId25"/>
    <p:sldId id="271" r:id="rId26"/>
    <p:sldId id="542" r:id="rId27"/>
    <p:sldId id="543" r:id="rId28"/>
    <p:sldId id="544" r:id="rId29"/>
    <p:sldId id="556" r:id="rId30"/>
    <p:sldId id="555" r:id="rId31"/>
    <p:sldId id="545" r:id="rId32"/>
    <p:sldId id="273" r:id="rId33"/>
    <p:sldId id="274" r:id="rId34"/>
    <p:sldId id="558" r:id="rId35"/>
    <p:sldId id="557" r:id="rId36"/>
    <p:sldId id="559" r:id="rId37"/>
    <p:sldId id="575" r:id="rId38"/>
    <p:sldId id="275" r:id="rId39"/>
    <p:sldId id="276" r:id="rId40"/>
    <p:sldId id="560" r:id="rId41"/>
    <p:sldId id="277" r:id="rId42"/>
    <p:sldId id="561" r:id="rId43"/>
    <p:sldId id="278" r:id="rId44"/>
    <p:sldId id="279" r:id="rId45"/>
    <p:sldId id="280" r:id="rId46"/>
    <p:sldId id="562" r:id="rId47"/>
    <p:sldId id="281" r:id="rId48"/>
    <p:sldId id="282" r:id="rId49"/>
    <p:sldId id="290" r:id="rId50"/>
    <p:sldId id="291" r:id="rId51"/>
    <p:sldId id="564" r:id="rId52"/>
    <p:sldId id="563" r:id="rId53"/>
    <p:sldId id="565" r:id="rId54"/>
    <p:sldId id="566" r:id="rId55"/>
    <p:sldId id="292" r:id="rId56"/>
    <p:sldId id="297" r:id="rId57"/>
    <p:sldId id="298" r:id="rId58"/>
    <p:sldId id="299" r:id="rId59"/>
    <p:sldId id="300" r:id="rId60"/>
    <p:sldId id="301" r:id="rId61"/>
    <p:sldId id="570" r:id="rId62"/>
    <p:sldId id="302" r:id="rId63"/>
    <p:sldId id="571" r:id="rId64"/>
    <p:sldId id="572" r:id="rId65"/>
    <p:sldId id="573" r:id="rId66"/>
    <p:sldId id="574" r:id="rId67"/>
    <p:sldId id="303" r:id="rId68"/>
    <p:sldId id="304" r:id="rId69"/>
    <p:sldId id="305" r:id="rId70"/>
    <p:sldId id="523" r:id="rId71"/>
    <p:sldId id="372" r:id="rId72"/>
    <p:sldId id="525" r:id="rId73"/>
    <p:sldId id="526" r:id="rId74"/>
    <p:sldId id="524" r:id="rId75"/>
    <p:sldId id="487" r:id="rId76"/>
    <p:sldId id="527" r:id="rId77"/>
    <p:sldId id="336" r:id="rId78"/>
    <p:sldId id="529" r:id="rId79"/>
    <p:sldId id="530" r:id="rId80"/>
    <p:sldId id="528" r:id="rId81"/>
    <p:sldId id="489" r:id="rId82"/>
    <p:sldId id="531" r:id="rId83"/>
    <p:sldId id="337" r:id="rId84"/>
    <p:sldId id="532" r:id="rId85"/>
    <p:sldId id="534" r:id="rId86"/>
    <p:sldId id="533" r:id="rId87"/>
    <p:sldId id="546" r:id="rId88"/>
    <p:sldId id="490" r:id="rId89"/>
    <p:sldId id="486" r:id="rId90"/>
    <p:sldId id="520" r:id="rId91"/>
    <p:sldId id="521" r:id="rId92"/>
    <p:sldId id="522" r:id="rId93"/>
    <p:sldId id="535" r:id="rId94"/>
    <p:sldId id="536" r:id="rId95"/>
    <p:sldId id="537" r:id="rId96"/>
    <p:sldId id="538" r:id="rId97"/>
    <p:sldId id="492" r:id="rId98"/>
    <p:sldId id="338" r:id="rId99"/>
    <p:sldId id="540" r:id="rId100"/>
    <p:sldId id="541" r:id="rId101"/>
    <p:sldId id="539" r:id="rId102"/>
    <p:sldId id="339" r:id="rId103"/>
    <p:sldId id="285" r:id="rId10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49" autoAdjust="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  <p:sld r:id="rId83" collapse="1"/>
      <p:sld r:id="rId84" collapse="1"/>
      <p:sld r:id="rId85" collapse="1"/>
      <p:sld r:id="rId86" collapse="1"/>
      <p:sld r:id="rId87" collapse="1"/>
      <p:sld r:id="rId88" collapse="1"/>
      <p:sld r:id="rId89" collapse="1"/>
      <p:sld r:id="rId90" collapse="1"/>
      <p:sld r:id="rId91" collapse="1"/>
      <p:sld r:id="rId92" collapse="1"/>
      <p:sld r:id="rId93" collapse="1"/>
      <p:sld r:id="rId94" collapse="1"/>
      <p:sld r:id="rId95" collapse="1"/>
      <p:sld r:id="rId96" collapse="1"/>
      <p:sld r:id="rId97" collapse="1"/>
      <p:sld r:id="rId98" collapse="1"/>
      <p:sld r:id="rId99" collapse="1"/>
      <p:sld r:id="rId100" collapse="1"/>
      <p:sld r:id="rId101" collapse="1"/>
      <p:sld r:id="rId102" collapse="1"/>
      <p:sld r:id="rId103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26.xml"/><Relationship Id="rId21" Type="http://schemas.openxmlformats.org/officeDocument/2006/relationships/slide" Target="slides/slide21.xml"/><Relationship Id="rId42" Type="http://schemas.openxmlformats.org/officeDocument/2006/relationships/slide" Target="slides/slide42.xml"/><Relationship Id="rId47" Type="http://schemas.openxmlformats.org/officeDocument/2006/relationships/slide" Target="slides/slide47.xml"/><Relationship Id="rId63" Type="http://schemas.openxmlformats.org/officeDocument/2006/relationships/slide" Target="slides/slide63.xml"/><Relationship Id="rId68" Type="http://schemas.openxmlformats.org/officeDocument/2006/relationships/slide" Target="slides/slide68.xml"/><Relationship Id="rId84" Type="http://schemas.openxmlformats.org/officeDocument/2006/relationships/slide" Target="slides/slide84.xml"/><Relationship Id="rId89" Type="http://schemas.openxmlformats.org/officeDocument/2006/relationships/slide" Target="slides/slide89.xml"/><Relationship Id="rId16" Type="http://schemas.openxmlformats.org/officeDocument/2006/relationships/slide" Target="slides/slide16.xml"/><Relationship Id="rId11" Type="http://schemas.openxmlformats.org/officeDocument/2006/relationships/slide" Target="slides/slide11.xml"/><Relationship Id="rId32" Type="http://schemas.openxmlformats.org/officeDocument/2006/relationships/slide" Target="slides/slide32.xml"/><Relationship Id="rId37" Type="http://schemas.openxmlformats.org/officeDocument/2006/relationships/slide" Target="slides/slide37.xml"/><Relationship Id="rId53" Type="http://schemas.openxmlformats.org/officeDocument/2006/relationships/slide" Target="slides/slide53.xml"/><Relationship Id="rId58" Type="http://schemas.openxmlformats.org/officeDocument/2006/relationships/slide" Target="slides/slide58.xml"/><Relationship Id="rId74" Type="http://schemas.openxmlformats.org/officeDocument/2006/relationships/slide" Target="slides/slide74.xml"/><Relationship Id="rId79" Type="http://schemas.openxmlformats.org/officeDocument/2006/relationships/slide" Target="slides/slide79.xml"/><Relationship Id="rId102" Type="http://schemas.openxmlformats.org/officeDocument/2006/relationships/slide" Target="slides/slide102.xml"/><Relationship Id="rId5" Type="http://schemas.openxmlformats.org/officeDocument/2006/relationships/slide" Target="slides/slide5.xml"/><Relationship Id="rId90" Type="http://schemas.openxmlformats.org/officeDocument/2006/relationships/slide" Target="slides/slide90.xml"/><Relationship Id="rId95" Type="http://schemas.openxmlformats.org/officeDocument/2006/relationships/slide" Target="slides/slide95.xml"/><Relationship Id="rId22" Type="http://schemas.openxmlformats.org/officeDocument/2006/relationships/slide" Target="slides/slide22.xml"/><Relationship Id="rId27" Type="http://schemas.openxmlformats.org/officeDocument/2006/relationships/slide" Target="slides/slide27.xml"/><Relationship Id="rId43" Type="http://schemas.openxmlformats.org/officeDocument/2006/relationships/slide" Target="slides/slide43.xml"/><Relationship Id="rId48" Type="http://schemas.openxmlformats.org/officeDocument/2006/relationships/slide" Target="slides/slide48.xml"/><Relationship Id="rId64" Type="http://schemas.openxmlformats.org/officeDocument/2006/relationships/slide" Target="slides/slide64.xml"/><Relationship Id="rId69" Type="http://schemas.openxmlformats.org/officeDocument/2006/relationships/slide" Target="slides/slide69.xml"/><Relationship Id="rId80" Type="http://schemas.openxmlformats.org/officeDocument/2006/relationships/slide" Target="slides/slide80.xml"/><Relationship Id="rId85" Type="http://schemas.openxmlformats.org/officeDocument/2006/relationships/slide" Target="slides/slide85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33" Type="http://schemas.openxmlformats.org/officeDocument/2006/relationships/slide" Target="slides/slide33.xml"/><Relationship Id="rId38" Type="http://schemas.openxmlformats.org/officeDocument/2006/relationships/slide" Target="slides/slide38.xml"/><Relationship Id="rId46" Type="http://schemas.openxmlformats.org/officeDocument/2006/relationships/slide" Target="slides/slide46.xml"/><Relationship Id="rId59" Type="http://schemas.openxmlformats.org/officeDocument/2006/relationships/slide" Target="slides/slide59.xml"/><Relationship Id="rId67" Type="http://schemas.openxmlformats.org/officeDocument/2006/relationships/slide" Target="slides/slide67.xml"/><Relationship Id="rId103" Type="http://schemas.openxmlformats.org/officeDocument/2006/relationships/slide" Target="slides/slide103.xml"/><Relationship Id="rId20" Type="http://schemas.openxmlformats.org/officeDocument/2006/relationships/slide" Target="slides/slide20.xml"/><Relationship Id="rId41" Type="http://schemas.openxmlformats.org/officeDocument/2006/relationships/slide" Target="slides/slide41.xml"/><Relationship Id="rId54" Type="http://schemas.openxmlformats.org/officeDocument/2006/relationships/slide" Target="slides/slide54.xml"/><Relationship Id="rId62" Type="http://schemas.openxmlformats.org/officeDocument/2006/relationships/slide" Target="slides/slide62.xml"/><Relationship Id="rId70" Type="http://schemas.openxmlformats.org/officeDocument/2006/relationships/slide" Target="slides/slide70.xml"/><Relationship Id="rId75" Type="http://schemas.openxmlformats.org/officeDocument/2006/relationships/slide" Target="slides/slide75.xml"/><Relationship Id="rId83" Type="http://schemas.openxmlformats.org/officeDocument/2006/relationships/slide" Target="slides/slide83.xml"/><Relationship Id="rId88" Type="http://schemas.openxmlformats.org/officeDocument/2006/relationships/slide" Target="slides/slide88.xml"/><Relationship Id="rId91" Type="http://schemas.openxmlformats.org/officeDocument/2006/relationships/slide" Target="slides/slide91.xml"/><Relationship Id="rId96" Type="http://schemas.openxmlformats.org/officeDocument/2006/relationships/slide" Target="slides/slide96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36" Type="http://schemas.openxmlformats.org/officeDocument/2006/relationships/slide" Target="slides/slide36.xml"/><Relationship Id="rId49" Type="http://schemas.openxmlformats.org/officeDocument/2006/relationships/slide" Target="slides/slide49.xml"/><Relationship Id="rId57" Type="http://schemas.openxmlformats.org/officeDocument/2006/relationships/slide" Target="slides/slide57.xml"/><Relationship Id="rId10" Type="http://schemas.openxmlformats.org/officeDocument/2006/relationships/slide" Target="slides/slide10.xml"/><Relationship Id="rId31" Type="http://schemas.openxmlformats.org/officeDocument/2006/relationships/slide" Target="slides/slide31.xml"/><Relationship Id="rId44" Type="http://schemas.openxmlformats.org/officeDocument/2006/relationships/slide" Target="slides/slide44.xml"/><Relationship Id="rId52" Type="http://schemas.openxmlformats.org/officeDocument/2006/relationships/slide" Target="slides/slide52.xml"/><Relationship Id="rId60" Type="http://schemas.openxmlformats.org/officeDocument/2006/relationships/slide" Target="slides/slide60.xml"/><Relationship Id="rId65" Type="http://schemas.openxmlformats.org/officeDocument/2006/relationships/slide" Target="slides/slide65.xml"/><Relationship Id="rId73" Type="http://schemas.openxmlformats.org/officeDocument/2006/relationships/slide" Target="slides/slide73.xml"/><Relationship Id="rId78" Type="http://schemas.openxmlformats.org/officeDocument/2006/relationships/slide" Target="slides/slide78.xml"/><Relationship Id="rId81" Type="http://schemas.openxmlformats.org/officeDocument/2006/relationships/slide" Target="slides/slide81.xml"/><Relationship Id="rId86" Type="http://schemas.openxmlformats.org/officeDocument/2006/relationships/slide" Target="slides/slide86.xml"/><Relationship Id="rId94" Type="http://schemas.openxmlformats.org/officeDocument/2006/relationships/slide" Target="slides/slide94.xml"/><Relationship Id="rId99" Type="http://schemas.openxmlformats.org/officeDocument/2006/relationships/slide" Target="slides/slide99.xml"/><Relationship Id="rId101" Type="http://schemas.openxmlformats.org/officeDocument/2006/relationships/slide" Target="slides/slide101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39" Type="http://schemas.openxmlformats.org/officeDocument/2006/relationships/slide" Target="slides/slide39.xml"/><Relationship Id="rId34" Type="http://schemas.openxmlformats.org/officeDocument/2006/relationships/slide" Target="slides/slide34.xml"/><Relationship Id="rId50" Type="http://schemas.openxmlformats.org/officeDocument/2006/relationships/slide" Target="slides/slide50.xml"/><Relationship Id="rId55" Type="http://schemas.openxmlformats.org/officeDocument/2006/relationships/slide" Target="slides/slide55.xml"/><Relationship Id="rId76" Type="http://schemas.openxmlformats.org/officeDocument/2006/relationships/slide" Target="slides/slide76.xml"/><Relationship Id="rId97" Type="http://schemas.openxmlformats.org/officeDocument/2006/relationships/slide" Target="slides/slide97.xml"/><Relationship Id="rId7" Type="http://schemas.openxmlformats.org/officeDocument/2006/relationships/slide" Target="slides/slide7.xml"/><Relationship Id="rId71" Type="http://schemas.openxmlformats.org/officeDocument/2006/relationships/slide" Target="slides/slide71.xml"/><Relationship Id="rId92" Type="http://schemas.openxmlformats.org/officeDocument/2006/relationships/slide" Target="slides/slide92.xml"/><Relationship Id="rId2" Type="http://schemas.openxmlformats.org/officeDocument/2006/relationships/slide" Target="slides/slide2.xml"/><Relationship Id="rId29" Type="http://schemas.openxmlformats.org/officeDocument/2006/relationships/slide" Target="slides/slide29.xml"/><Relationship Id="rId24" Type="http://schemas.openxmlformats.org/officeDocument/2006/relationships/slide" Target="slides/slide24.xml"/><Relationship Id="rId40" Type="http://schemas.openxmlformats.org/officeDocument/2006/relationships/slide" Target="slides/slide40.xml"/><Relationship Id="rId45" Type="http://schemas.openxmlformats.org/officeDocument/2006/relationships/slide" Target="slides/slide45.xml"/><Relationship Id="rId66" Type="http://schemas.openxmlformats.org/officeDocument/2006/relationships/slide" Target="slides/slide66.xml"/><Relationship Id="rId87" Type="http://schemas.openxmlformats.org/officeDocument/2006/relationships/slide" Target="slides/slide87.xml"/><Relationship Id="rId61" Type="http://schemas.openxmlformats.org/officeDocument/2006/relationships/slide" Target="slides/slide61.xml"/><Relationship Id="rId82" Type="http://schemas.openxmlformats.org/officeDocument/2006/relationships/slide" Target="slides/slide82.xml"/><Relationship Id="rId19" Type="http://schemas.openxmlformats.org/officeDocument/2006/relationships/slide" Target="slides/slide19.xml"/><Relationship Id="rId14" Type="http://schemas.openxmlformats.org/officeDocument/2006/relationships/slide" Target="slides/slide14.xml"/><Relationship Id="rId30" Type="http://schemas.openxmlformats.org/officeDocument/2006/relationships/slide" Target="slides/slide30.xml"/><Relationship Id="rId35" Type="http://schemas.openxmlformats.org/officeDocument/2006/relationships/slide" Target="slides/slide35.xml"/><Relationship Id="rId56" Type="http://schemas.openxmlformats.org/officeDocument/2006/relationships/slide" Target="slides/slide56.xml"/><Relationship Id="rId77" Type="http://schemas.openxmlformats.org/officeDocument/2006/relationships/slide" Target="slides/slide77.xml"/><Relationship Id="rId100" Type="http://schemas.openxmlformats.org/officeDocument/2006/relationships/slide" Target="slides/slide100.xml"/><Relationship Id="rId8" Type="http://schemas.openxmlformats.org/officeDocument/2006/relationships/slide" Target="slides/slide8.xml"/><Relationship Id="rId51" Type="http://schemas.openxmlformats.org/officeDocument/2006/relationships/slide" Target="slides/slide51.xml"/><Relationship Id="rId72" Type="http://schemas.openxmlformats.org/officeDocument/2006/relationships/slide" Target="slides/slide72.xml"/><Relationship Id="rId93" Type="http://schemas.openxmlformats.org/officeDocument/2006/relationships/slide" Target="slides/slide93.xml"/><Relationship Id="rId98" Type="http://schemas.openxmlformats.org/officeDocument/2006/relationships/slide" Target="slides/slide98.xml"/><Relationship Id="rId3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1672" y="2996952"/>
            <a:ext cx="11521280" cy="1080000"/>
          </a:xfrm>
          <a:prstGeom prst="rect">
            <a:avLst/>
          </a:prstGeom>
        </p:spPr>
        <p:txBody>
          <a:bodyPr/>
          <a:lstStyle>
            <a:lvl1pPr marL="720000" indent="-720000" algn="l">
              <a:defRPr lang="de-DE" sz="3200" b="1" kern="1200" dirty="0">
                <a:solidFill>
                  <a:srgbClr val="00798D"/>
                </a:solidFill>
                <a:effectLst/>
                <a:latin typeface="HelveticaNeue LT 55 Roman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403C63E-6A77-4B91-A32F-61EF180A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B8DD5F8-44F5-886E-71D0-35B9ED522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77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0" y="692696"/>
            <a:ext cx="11521280" cy="5616624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35362" y="52937"/>
            <a:ext cx="1046516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800" b="1"/>
            </a:lvl1pPr>
          </a:lstStyle>
          <a:p>
            <a:pPr lvl="0"/>
            <a:r>
              <a:rPr lang="en-US" noProof="0" dirty="0" err="1"/>
              <a:t>xxxxx</a:t>
            </a:r>
            <a:endParaRPr lang="en-US" noProof="0" dirty="0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260CD10-35A8-3D7F-F9D5-AB5822C53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85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00828-8672-4503-8288-018B4D8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28A1061-1B12-4911-9078-9A46988C16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5360" y="692696"/>
            <a:ext cx="5664000" cy="5616624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7B2DACE-DE78-424C-B18D-8BF80F224C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92640" y="692696"/>
            <a:ext cx="5664000" cy="5616624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/>
              <a:t>Erste Ebene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003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00828-8672-4503-8288-018B4D8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28A1061-1B12-4911-9078-9A46988C16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5360" y="692696"/>
            <a:ext cx="5664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7B2DACE-DE78-424C-B18D-8BF80F224C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92640" y="692696"/>
            <a:ext cx="5664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/>
              <a:t>Erste Ebene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71B1F5-E5AB-4146-F770-5DFE128FFD3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35360" y="3537320"/>
            <a:ext cx="5664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424019C-717A-BD31-AC9A-F95BDD4CEC2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92640" y="3537320"/>
            <a:ext cx="5664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/>
              <a:t>Erste Ebene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0373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0" y="692696"/>
            <a:ext cx="11521280" cy="56166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/>
              <a:t>Erste Ebene</a:t>
            </a: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35364" y="52937"/>
            <a:ext cx="1046516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800" b="1"/>
            </a:lvl1pPr>
          </a:lstStyle>
          <a:p>
            <a:pPr lvl="0"/>
            <a:r>
              <a:rPr lang="en-US" noProof="0" dirty="0" err="1"/>
              <a:t>xxxxx</a:t>
            </a:r>
            <a:endParaRPr lang="en-US" noProof="0" dirty="0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83D7317-0931-5C0A-6D04-9DCDF1B9E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95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28A1061-1B12-4911-9078-9A46988C16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5360" y="692696"/>
            <a:ext cx="11520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7B2DACE-DE78-424C-B18D-8BF80F224C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5360" y="3524523"/>
            <a:ext cx="11520000" cy="2772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/>
              <a:t>Erste Ebene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4B84918-C01D-4C5E-BDB9-3A08FEFF682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35364" y="52937"/>
            <a:ext cx="1046516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800" b="1"/>
            </a:lvl1pPr>
          </a:lstStyle>
          <a:p>
            <a:pPr lvl="0"/>
            <a:r>
              <a:rPr lang="en-US" noProof="0" dirty="0" err="1"/>
              <a:t>xxxxx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157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109E0D-5E32-499E-9E7D-F3219392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2" y="2422800"/>
            <a:ext cx="10465161" cy="11520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454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35362" y="52937"/>
            <a:ext cx="1046516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800" b="1"/>
            </a:lvl1pPr>
          </a:lstStyle>
          <a:p>
            <a:pPr lvl="0"/>
            <a:r>
              <a:rPr lang="en-US" noProof="0" dirty="0" err="1"/>
              <a:t>xxxxx</a:t>
            </a:r>
            <a:endParaRPr lang="en-US" noProof="0" dirty="0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A2254C0-9A9B-AD04-5A1E-2F8AE585A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96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31EC2-124B-44BE-959C-1DE05EC6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36F61F3-8BBA-4E27-B8D9-5B9C09F74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0EC1E-17BE-448A-BFCF-C22CEE3C6F56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90AA063-5AE0-B770-29AC-128AE5D5FD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434" y="692149"/>
            <a:ext cx="11523600" cy="2520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4E86E47-F77E-82AE-91A2-B60985A0048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31820" y="3357564"/>
            <a:ext cx="5666400" cy="2808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B10D96A9-F036-3989-7FF7-0E0EF29A871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93782" y="3357564"/>
            <a:ext cx="5666400" cy="2808000"/>
          </a:xfrm>
          <a:prstGeom prst="rect">
            <a:avLst/>
          </a:prstGeom>
        </p:spPr>
        <p:txBody>
          <a:bodyPr/>
          <a:lstStyle>
            <a:lvl1pPr marL="358775" indent="-358775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1pPr>
            <a:lvl2pPr marL="719138" indent="-358775">
              <a:lnSpc>
                <a:spcPct val="150000"/>
              </a:lnSpc>
              <a:buSzPct val="60000"/>
              <a:buFont typeface="Wingdings 3" panose="05040102010807070707" pitchFamily="18" charset="2"/>
              <a:buChar char="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2pPr>
            <a:lvl3pPr marL="971550" indent="-250825">
              <a:lnSpc>
                <a:spcPct val="150000"/>
              </a:lnSpc>
              <a:spcBef>
                <a:spcPts val="432"/>
              </a:spcBef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3pPr>
            <a:lvl4pPr marL="1260000" indent="-252000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Erste</a:t>
            </a:r>
            <a:r>
              <a:rPr lang="en-US" noProof="0" dirty="0"/>
              <a:t> Ebene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</p:spTree>
    <p:extLst>
      <p:ext uri="{BB962C8B-B14F-4D97-AF65-F5344CB8AC3E}">
        <p14:creationId xmlns:p14="http://schemas.microsoft.com/office/powerpoint/2010/main" val="180136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335362" y="52937"/>
            <a:ext cx="1046516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cxnSp>
        <p:nvCxnSpPr>
          <p:cNvPr id="8" name="Gerade Verbindung 7"/>
          <p:cNvCxnSpPr/>
          <p:nvPr/>
        </p:nvCxnSpPr>
        <p:spPr>
          <a:xfrm>
            <a:off x="335360" y="532054"/>
            <a:ext cx="11521280" cy="0"/>
          </a:xfrm>
          <a:prstGeom prst="line">
            <a:avLst/>
          </a:prstGeom>
          <a:ln w="25400">
            <a:solidFill>
              <a:srgbClr val="007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335360" y="6332757"/>
            <a:ext cx="11521280" cy="0"/>
          </a:xfrm>
          <a:prstGeom prst="line">
            <a:avLst/>
          </a:prstGeom>
          <a:ln w="25400">
            <a:solidFill>
              <a:srgbClr val="007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 bwMode="auto">
          <a:xfrm>
            <a:off x="10150616" y="6482074"/>
            <a:ext cx="182420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sz="1000" b="0" kern="1200" dirty="0">
                <a:solidFill>
                  <a:srgbClr val="00798D"/>
                </a:solidFill>
                <a:latin typeface="HelveticaNeue LT 55 Roman" panose="020B0604020202020204" pitchFamily="34" charset="0"/>
                <a:ea typeface="+mn-ea"/>
                <a:cs typeface="+mn-cs"/>
              </a:rPr>
              <a:t>www.cq-bildung.de</a:t>
            </a:r>
          </a:p>
        </p:txBody>
      </p:sp>
      <p:pic>
        <p:nvPicPr>
          <p:cNvPr id="11" name="Grafik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3" y="6356301"/>
            <a:ext cx="1221857" cy="48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17C9B0B-C6BF-4CC2-9257-81F25C2C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Gerade Verbindung 7">
            <a:extLst>
              <a:ext uri="{FF2B5EF4-FFF2-40B4-BE49-F238E27FC236}">
                <a16:creationId xmlns:a16="http://schemas.microsoft.com/office/drawing/2014/main" id="{CFFD0B74-74E6-4B26-D898-1AA32DAA01E9}"/>
              </a:ext>
            </a:extLst>
          </p:cNvPr>
          <p:cNvCxnSpPr/>
          <p:nvPr/>
        </p:nvCxnSpPr>
        <p:spPr>
          <a:xfrm>
            <a:off x="335360" y="532054"/>
            <a:ext cx="11521280" cy="0"/>
          </a:xfrm>
          <a:prstGeom prst="line">
            <a:avLst/>
          </a:prstGeom>
          <a:ln w="25400">
            <a:solidFill>
              <a:srgbClr val="007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8">
            <a:extLst>
              <a:ext uri="{FF2B5EF4-FFF2-40B4-BE49-F238E27FC236}">
                <a16:creationId xmlns:a16="http://schemas.microsoft.com/office/drawing/2014/main" id="{11CD1980-BE3A-413E-BD67-6E508E696358}"/>
              </a:ext>
            </a:extLst>
          </p:cNvPr>
          <p:cNvCxnSpPr/>
          <p:nvPr/>
        </p:nvCxnSpPr>
        <p:spPr>
          <a:xfrm>
            <a:off x="335360" y="6332757"/>
            <a:ext cx="11521280" cy="0"/>
          </a:xfrm>
          <a:prstGeom prst="line">
            <a:avLst/>
          </a:prstGeom>
          <a:ln w="25400">
            <a:solidFill>
              <a:srgbClr val="007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5CC4A076-D66C-5386-9060-7FF35964CCC3}"/>
              </a:ext>
            </a:extLst>
          </p:cNvPr>
          <p:cNvSpPr txBox="1"/>
          <p:nvPr/>
        </p:nvSpPr>
        <p:spPr bwMode="auto">
          <a:xfrm>
            <a:off x="10150616" y="6482074"/>
            <a:ext cx="182420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sz="1000" b="0" kern="1200" dirty="0">
                <a:solidFill>
                  <a:srgbClr val="00798D"/>
                </a:solidFill>
                <a:latin typeface="HelveticaNeue LT 55 Roman" panose="020B0604020202020204" pitchFamily="34" charset="0"/>
                <a:ea typeface="+mn-ea"/>
                <a:cs typeface="+mn-cs"/>
              </a:rPr>
              <a:t>www.cq-bildung.de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703962-CF22-C41D-F8FB-8EE4A58010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3" y="6356301"/>
            <a:ext cx="1221857" cy="48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4579AB8-27DE-C73A-F3A3-0DFD6839F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6587" y="181020"/>
            <a:ext cx="620684" cy="23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798D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ACB46-177A-4B29-AAFD-561B1ED476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elveticaNeue LT 55 Roman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HelveticaNeue LT 55 Roman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45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00798D"/>
          </a:solidFill>
          <a:latin typeface="HelveticaNeue LT 55 Roman" panose="020B06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s64.com/bash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fo.org/path_env_var.html" TargetMode="External"/><Relationship Id="rId2" Type="http://schemas.openxmlformats.org/officeDocument/2006/relationships/hyperlink" Target="https://en.wikipedia.org/wiki/Archive_fi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C8CDADB-186C-5D2F-DFDE-2E2A95D52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Bash </a:t>
            </a:r>
            <a:r>
              <a:rPr lang="de-DE" dirty="0" err="1"/>
              <a:t>Commands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110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4D5ECBB-2F1C-3EA2-FCD1-B5316436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Basics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: cd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list</a:t>
            </a:r>
            <a:r>
              <a:rPr lang="de-DE" dirty="0"/>
              <a:t>: </a:t>
            </a:r>
            <a:r>
              <a:rPr lang="de-DE" dirty="0" err="1"/>
              <a:t>ls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: </a:t>
            </a:r>
            <a:r>
              <a:rPr lang="de-DE" dirty="0" err="1"/>
              <a:t>mkdir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: </a:t>
            </a:r>
            <a:r>
              <a:rPr lang="de-DE" dirty="0" err="1"/>
              <a:t>touch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remove</a:t>
            </a:r>
            <a:r>
              <a:rPr lang="de-DE" dirty="0"/>
              <a:t>: </a:t>
            </a:r>
            <a:r>
              <a:rPr lang="de-DE" dirty="0" err="1"/>
              <a:t>rm</a:t>
            </a:r>
            <a:r>
              <a:rPr lang="de-DE" dirty="0"/>
              <a:t> / </a:t>
            </a:r>
            <a:r>
              <a:rPr lang="de-DE" dirty="0" err="1"/>
              <a:t>rmdir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move</a:t>
            </a:r>
            <a:r>
              <a:rPr lang="de-DE" dirty="0"/>
              <a:t>: mv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copy</a:t>
            </a:r>
            <a:r>
              <a:rPr lang="de-DE" dirty="0"/>
              <a:t>: </a:t>
            </a:r>
            <a:r>
              <a:rPr lang="de-DE" dirty="0" err="1"/>
              <a:t>cp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Wildcards in Linux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Paths</a:t>
            </a:r>
            <a:r>
              <a:rPr lang="de-DE" dirty="0"/>
              <a:t> in Linux</a:t>
            </a:r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find</a:t>
            </a:r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wc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uniq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sort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Redirecting</a:t>
            </a:r>
            <a:r>
              <a:rPr lang="de-DE" dirty="0"/>
              <a:t> </a:t>
            </a:r>
            <a:r>
              <a:rPr lang="de-DE" dirty="0" err="1"/>
              <a:t>outputs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cat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Pipes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B938EE-0A6B-3E57-86AE-7FCBEED5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57113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0DF91-3386-36E2-D293-AF8B0141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62615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68A3C1C-B4BC-2DCD-3AB5-4282731C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Bash refers to the language of the commands</a:t>
            </a:r>
          </a:p>
          <a:p>
            <a:r>
              <a:rPr lang="en-US" dirty="0"/>
              <a:t>Bash commands are case-sensitive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dirty="0"/>
              <a:t> is not the same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everything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type in </a:t>
            </a:r>
            <a:r>
              <a:rPr lang="de-DE" dirty="0" err="1"/>
              <a:t>our</a:t>
            </a:r>
            <a:r>
              <a:rPr lang="de-DE" dirty="0"/>
              <a:t> terminal / </a:t>
            </a:r>
            <a:r>
              <a:rPr lang="de-DE" dirty="0" err="1"/>
              <a:t>shell</a:t>
            </a:r>
            <a:endParaRPr lang="de-DE" dirty="0"/>
          </a:p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in a terminal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associated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so-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r>
              <a:rPr lang="de-DE" dirty="0"/>
              <a:t>All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and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on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saved</a:t>
            </a:r>
            <a:r>
              <a:rPr lang="de-DE" dirty="0"/>
              <a:t> </a:t>
            </a:r>
            <a:r>
              <a:rPr lang="de-DE" dirty="0" err="1"/>
              <a:t>somewhere</a:t>
            </a:r>
            <a:r>
              <a:rPr lang="de-DE" dirty="0"/>
              <a:t> 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maneuver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CD7C052-63EC-CFA5-1C73-B9A3FA7E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I</a:t>
            </a:r>
          </a:p>
        </p:txBody>
      </p:sp>
    </p:spTree>
    <p:extLst>
      <p:ext uri="{BB962C8B-B14F-4D97-AF65-F5344CB8AC3E}">
        <p14:creationId xmlns:p14="http://schemas.microsoft.com/office/powerpoint/2010/main" val="2477826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AA8417A-B726-0C11-F5CC-B28A7E7D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II – </a:t>
            </a:r>
            <a:r>
              <a:rPr lang="de-DE" dirty="0" err="1"/>
              <a:t>Where</a:t>
            </a:r>
            <a:r>
              <a:rPr lang="de-DE" dirty="0"/>
              <a:t> am I?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65612254-F5F3-A784-9059-6A18869E4CE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845" y="1704354"/>
            <a:ext cx="2343477" cy="552527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EE65636-2CE1-8102-2338-DA11629B3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845" y="2582989"/>
            <a:ext cx="3048425" cy="523948"/>
          </a:xfrm>
          <a:prstGeom prst="rect">
            <a:avLst/>
          </a:prstGeom>
        </p:spPr>
      </p:pic>
      <p:pic>
        <p:nvPicPr>
          <p:cNvPr id="15" name="Inhaltsplatzhalter 9">
            <a:extLst>
              <a:ext uri="{FF2B5EF4-FFF2-40B4-BE49-F238E27FC236}">
                <a16:creationId xmlns:a16="http://schemas.microsoft.com/office/drawing/2014/main" id="{7F388D88-7169-2F67-AE0A-AD0EC8FCC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846" y="3559032"/>
            <a:ext cx="4086795" cy="333422"/>
          </a:xfrm>
          <a:prstGeom prst="rect">
            <a:avLst/>
          </a:prstGeom>
        </p:spPr>
      </p:pic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6A29AE8C-6C3B-D1B9-BBF0-29D823532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692696"/>
            <a:ext cx="7123773" cy="5616624"/>
          </a:xfrm>
        </p:spPr>
        <p:txBody>
          <a:bodyPr/>
          <a:lstStyle/>
          <a:p>
            <a:r>
              <a:rPr lang="de-DE" sz="2000" dirty="0"/>
              <a:t>A Terminal </a:t>
            </a:r>
            <a:r>
              <a:rPr lang="de-DE" sz="2000" dirty="0" err="1"/>
              <a:t>always</a:t>
            </a:r>
            <a:r>
              <a:rPr lang="de-DE" sz="2000" dirty="0"/>
              <a:t> </a:t>
            </a:r>
            <a:r>
              <a:rPr lang="de-DE" sz="2000" dirty="0" err="1"/>
              <a:t>tells</a:t>
            </a:r>
            <a:r>
              <a:rPr lang="de-DE" sz="2000" dirty="0"/>
              <a:t> </a:t>
            </a:r>
            <a:r>
              <a:rPr lang="de-DE" sz="2000" dirty="0" err="1"/>
              <a:t>you</a:t>
            </a:r>
            <a:r>
              <a:rPr lang="de-DE" sz="2000" dirty="0"/>
              <a:t> </a:t>
            </a:r>
            <a:r>
              <a:rPr lang="de-DE" sz="2000" dirty="0" err="1"/>
              <a:t>your</a:t>
            </a:r>
            <a:r>
              <a:rPr lang="de-DE" sz="2000" dirty="0"/>
              <a:t> </a:t>
            </a:r>
            <a:r>
              <a:rPr lang="de-DE" sz="2000" dirty="0" err="1"/>
              <a:t>current</a:t>
            </a:r>
            <a:r>
              <a:rPr lang="de-DE" sz="2000" dirty="0"/>
              <a:t> </a:t>
            </a:r>
            <a:r>
              <a:rPr lang="de-DE" sz="2000" dirty="0" err="1"/>
              <a:t>directory</a:t>
            </a:r>
            <a:endParaRPr lang="de-DE" sz="2000" dirty="0"/>
          </a:p>
          <a:p>
            <a:r>
              <a:rPr lang="de-DE" sz="2000" dirty="0"/>
              <a:t>At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start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line</a:t>
            </a:r>
            <a:r>
              <a:rPr lang="de-DE" sz="2000" dirty="0"/>
              <a:t> in </a:t>
            </a:r>
            <a:r>
              <a:rPr lang="de-DE" sz="2000" dirty="0" err="1"/>
              <a:t>your</a:t>
            </a:r>
            <a:r>
              <a:rPr lang="de-DE" sz="2000" dirty="0"/>
              <a:t> terminal </a:t>
            </a:r>
            <a:r>
              <a:rPr lang="de-DE" sz="2000" dirty="0" err="1"/>
              <a:t>you</a:t>
            </a:r>
            <a:r>
              <a:rPr lang="de-DE" sz="2000" dirty="0"/>
              <a:t> </a:t>
            </a:r>
            <a:r>
              <a:rPr lang="de-DE" sz="2000" dirty="0" err="1"/>
              <a:t>see</a:t>
            </a:r>
            <a:r>
              <a:rPr lang="de-DE" sz="2000" dirty="0"/>
              <a:t> </a:t>
            </a:r>
            <a:r>
              <a:rPr lang="de-DE" sz="2000" dirty="0" err="1"/>
              <a:t>some</a:t>
            </a:r>
            <a:r>
              <a:rPr lang="de-DE" sz="2000" dirty="0"/>
              <a:t> </a:t>
            </a:r>
            <a:r>
              <a:rPr lang="de-DE" sz="2000" dirty="0" err="1"/>
              <a:t>text</a:t>
            </a:r>
            <a:r>
              <a:rPr lang="de-DE" sz="2000" dirty="0"/>
              <a:t> in </a:t>
            </a:r>
            <a:r>
              <a:rPr lang="de-DE" sz="2000" dirty="0" err="1"/>
              <a:t>green</a:t>
            </a:r>
            <a:r>
              <a:rPr lang="de-DE" sz="2000" dirty="0"/>
              <a:t> </a:t>
            </a:r>
            <a:r>
              <a:rPr lang="de-DE" sz="2000" dirty="0" err="1"/>
              <a:t>followed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a</a:t>
            </a:r>
            <a:r>
              <a:rPr lang="en-US" sz="2000" dirty="0"/>
              <a:t> “:” and a blue “~” before the $ sign (A)</a:t>
            </a:r>
          </a:p>
          <a:p>
            <a:r>
              <a:rPr lang="en-US" sz="2000" dirty="0"/>
              <a:t>This means you’re in the so called home directory</a:t>
            </a:r>
          </a:p>
          <a:p>
            <a:r>
              <a:rPr lang="en-US" sz="2000" dirty="0"/>
              <a:t>If you go to other directories their “path”, the way you can use to reach them, is also displayed in blue (B or C)</a:t>
            </a:r>
          </a:p>
          <a:p>
            <a:r>
              <a:rPr lang="en-US" sz="2000" dirty="0"/>
              <a:t>If you’re still unsure you can use the command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 dirty="0"/>
              <a:t> to let the terminal print out the way to your current directory (D)</a:t>
            </a:r>
            <a:endParaRPr lang="de-DE" sz="2000" dirty="0"/>
          </a:p>
        </p:txBody>
      </p:sp>
      <p:pic>
        <p:nvPicPr>
          <p:cNvPr id="20" name="Inhaltsplatzhalter 16">
            <a:extLst>
              <a:ext uri="{FF2B5EF4-FFF2-40B4-BE49-F238E27FC236}">
                <a16:creationId xmlns:a16="http://schemas.microsoft.com/office/drawing/2014/main" id="{078CA0A4-D397-FADA-383B-A2C1531A5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846" y="4189545"/>
            <a:ext cx="3277057" cy="638264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FCE179D-A4A1-9CB1-C721-FA84A2E9E693}"/>
              </a:ext>
            </a:extLst>
          </p:cNvPr>
          <p:cNvSpPr txBox="1"/>
          <p:nvPr/>
        </p:nvSpPr>
        <p:spPr>
          <a:xfrm>
            <a:off x="7273825" y="174978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74054A3-2DFF-33EE-19A3-679C69D82FE3}"/>
              </a:ext>
            </a:extLst>
          </p:cNvPr>
          <p:cNvSpPr txBox="1"/>
          <p:nvPr/>
        </p:nvSpPr>
        <p:spPr>
          <a:xfrm>
            <a:off x="7273825" y="261095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BB82343-78C7-F1A6-55A1-B10312C1E459}"/>
              </a:ext>
            </a:extLst>
          </p:cNvPr>
          <p:cNvSpPr txBox="1"/>
          <p:nvPr/>
        </p:nvSpPr>
        <p:spPr>
          <a:xfrm>
            <a:off x="7266317" y="346268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C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852BF8D-2286-FE81-5A11-0CD0615C9E0C}"/>
              </a:ext>
            </a:extLst>
          </p:cNvPr>
          <p:cNvSpPr txBox="1"/>
          <p:nvPr/>
        </p:nvSpPr>
        <p:spPr>
          <a:xfrm>
            <a:off x="7269817" y="4259041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8200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E2919AB-FD71-E189-27C0-A6697507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III – Options I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D32689C-8760-1C97-647E-69F5A988A35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Nearly all Bash commands have options sometimes also called parameters, keys or flags</a:t>
            </a:r>
          </a:p>
          <a:p>
            <a:r>
              <a:rPr lang="en-US" dirty="0"/>
              <a:t>They are added to the command to change the default behavior of it:</a:t>
            </a:r>
          </a:p>
          <a:p>
            <a:pPr marL="817563" lvl="1" indent="-457200">
              <a:buFont typeface="+mj-lt"/>
              <a:buAutoNum type="arabicPeriod"/>
            </a:pPr>
            <a:r>
              <a:rPr lang="en-US" dirty="0"/>
              <a:t>Start with a “-” and followed by a letter 	</a:t>
            </a:r>
            <a:r>
              <a:rPr lang="en-US" dirty="0">
                <a:sym typeface="Wingdings" panose="05000000000000000000" pitchFamily="2" charset="2"/>
              </a:rPr>
              <a:t> 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ls –r</a:t>
            </a:r>
            <a:endParaRPr lang="en-US" dirty="0"/>
          </a:p>
          <a:p>
            <a:pPr marL="817563" lvl="1" indent="-457200">
              <a:buFont typeface="+mj-lt"/>
              <a:buAutoNum type="arabicPeriod"/>
            </a:pPr>
            <a:r>
              <a:rPr lang="en-US" dirty="0"/>
              <a:t>Start with “--“ and followed by a word	</a:t>
            </a:r>
            <a:r>
              <a:rPr lang="en-US" dirty="0">
                <a:sym typeface="Wingdings" panose="05000000000000000000" pitchFamily="2" charset="2"/>
              </a:rPr>
              <a:t>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--reverse</a:t>
            </a:r>
            <a:endParaRPr lang="en-US" dirty="0"/>
          </a:p>
          <a:p>
            <a:r>
              <a:rPr lang="en-US" dirty="0"/>
              <a:t>The two images show how such an option</a:t>
            </a:r>
          </a:p>
          <a:p>
            <a:pPr marL="0" indent="0">
              <a:buNone/>
            </a:pPr>
            <a:r>
              <a:rPr lang="en-US" dirty="0"/>
              <a:t>changes the output of 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59240098-826F-B582-EFA7-127959FD937B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26"/>
          <a:stretch/>
        </p:blipFill>
        <p:spPr>
          <a:xfrm>
            <a:off x="331789" y="4957442"/>
            <a:ext cx="5741328" cy="1260000"/>
          </a:xfr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0335143C-FC2B-A468-BA4B-8E158753684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355"/>
          <a:stretch/>
        </p:blipFill>
        <p:spPr>
          <a:xfrm>
            <a:off x="7999045" y="4957442"/>
            <a:ext cx="3858989" cy="1260000"/>
          </a:xfrm>
        </p:spPr>
      </p:pic>
    </p:spTree>
    <p:extLst>
      <p:ext uri="{BB962C8B-B14F-4D97-AF65-F5344CB8AC3E}">
        <p14:creationId xmlns:p14="http://schemas.microsoft.com/office/powerpoint/2010/main" val="301477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C358924-4265-0C1C-9A3B-579C3BDA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IV – Options II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8510298-BCBD-808E-0FBB-5855329A9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aren‘t</a:t>
            </a:r>
            <a:r>
              <a:rPr lang="de-DE" dirty="0"/>
              <a:t> limited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per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only</a:t>
            </a:r>
            <a:endParaRPr lang="de-DE" dirty="0"/>
          </a:p>
          <a:p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multiple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letter</a:t>
            </a:r>
            <a:r>
              <a:rPr lang="de-DE" dirty="0"/>
              <a:t> </a:t>
            </a:r>
            <a:r>
              <a:rPr lang="de-DE" dirty="0" err="1"/>
              <a:t>codes</a:t>
            </a:r>
            <a:r>
              <a:rPr lang="de-DE" dirty="0"/>
              <a:t> after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en-US" dirty="0"/>
              <a:t>“-”</a:t>
            </a:r>
          </a:p>
          <a:p>
            <a:r>
              <a:rPr lang="en-US" dirty="0"/>
              <a:t>The image on the right side shows the usage of the options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–l</a:t>
            </a:r>
            <a:r>
              <a:rPr lang="en-US" dirty="0"/>
              <a:t> for 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dirty="0"/>
              <a:t> at the same time</a:t>
            </a:r>
          </a:p>
          <a:p>
            <a:r>
              <a:rPr lang="en-US" dirty="0"/>
              <a:t>The order of options doesn’t matter</a:t>
            </a:r>
            <a:endParaRPr lang="de-DE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0FCF66AE-3321-B634-447B-6B18FDE5534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838" y="1931057"/>
            <a:ext cx="5664200" cy="3138760"/>
          </a:xfrm>
        </p:spPr>
      </p:pic>
    </p:spTree>
    <p:extLst>
      <p:ext uri="{BB962C8B-B14F-4D97-AF65-F5344CB8AC3E}">
        <p14:creationId xmlns:p14="http://schemas.microsoft.com/office/powerpoint/2010/main" val="277697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2B7DEB6-1FFD-BE15-CB44-88E9F9CD0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commands allow arguments, this refers to things a command should work on, e.g. a specific file or directory</a:t>
            </a:r>
          </a:p>
          <a:p>
            <a:r>
              <a:rPr lang="en-US" dirty="0"/>
              <a:t>We write these arguments simply after our command space separated: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ls Linux</a:t>
            </a:r>
            <a:endParaRPr lang="en-US" dirty="0"/>
          </a:p>
          <a:p>
            <a:r>
              <a:rPr lang="en-US" dirty="0"/>
              <a:t>In the example above I use 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dirty="0"/>
              <a:t> on the directory Linux instead of my current working directory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dirty="0"/>
              <a:t> would normally work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3218A7E-0911-61CD-A3F2-F2ADC8A1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V – Arguments</a:t>
            </a:r>
          </a:p>
        </p:txBody>
      </p:sp>
    </p:spTree>
    <p:extLst>
      <p:ext uri="{BB962C8B-B14F-4D97-AF65-F5344CB8AC3E}">
        <p14:creationId xmlns:p14="http://schemas.microsoft.com/office/powerpoint/2010/main" val="276757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953FBD0-D11F-90E7-677D-0B0A9453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Linux </a:t>
            </a:r>
            <a:r>
              <a:rPr lang="de-DE" dirty="0" err="1"/>
              <a:t>refers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family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operating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computers</a:t>
            </a:r>
            <a:endParaRPr lang="de-DE" dirty="0"/>
          </a:p>
          <a:p>
            <a:pPr lvl="1"/>
            <a:r>
              <a:rPr lang="de-DE" dirty="0" err="1"/>
              <a:t>members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family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Ubuntu, Fedora, etc.</a:t>
            </a:r>
          </a:p>
          <a:p>
            <a:r>
              <a:rPr lang="de-DE" dirty="0"/>
              <a:t>Bash </a:t>
            </a:r>
            <a:r>
              <a:rPr lang="de-DE" dirty="0" err="1"/>
              <a:t>refers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type </a:t>
            </a:r>
            <a:r>
              <a:rPr lang="de-DE" dirty="0" err="1"/>
              <a:t>of</a:t>
            </a:r>
            <a:r>
              <a:rPr lang="de-DE" dirty="0"/>
              <a:t> shell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such a shell</a:t>
            </a:r>
          </a:p>
          <a:p>
            <a:pPr lvl="1"/>
            <a:r>
              <a:rPr lang="de-DE" dirty="0"/>
              <a:t>all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thus</a:t>
            </a:r>
            <a:r>
              <a:rPr lang="de-DE" dirty="0"/>
              <a:t> bash </a:t>
            </a:r>
            <a:r>
              <a:rPr lang="de-DE" dirty="0" err="1"/>
              <a:t>commands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8DF67F2-DD7B-258C-CBD2-4AA415D0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VI – Bash </a:t>
            </a:r>
            <a:r>
              <a:rPr lang="de-DE" dirty="0" err="1"/>
              <a:t>or</a:t>
            </a:r>
            <a:r>
              <a:rPr lang="de-DE" dirty="0"/>
              <a:t> Linux?</a:t>
            </a:r>
          </a:p>
        </p:txBody>
      </p:sp>
    </p:spTree>
    <p:extLst>
      <p:ext uri="{BB962C8B-B14F-4D97-AF65-F5344CB8AC3E}">
        <p14:creationId xmlns:p14="http://schemas.microsoft.com/office/powerpoint/2010/main" val="181168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E4BDF38-42CB-E737-E31C-4478F667C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Bash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sensitive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Bash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(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)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: </a:t>
            </a:r>
            <a:r>
              <a:rPr lang="de-DE" dirty="0">
                <a:hlinkClick r:id="rId2"/>
              </a:rPr>
              <a:t>https://ss64.com/bash/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tell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on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arguments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D67817-2A31-FD17-CD77-79D50A32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 VII – Summary</a:t>
            </a:r>
          </a:p>
        </p:txBody>
      </p:sp>
    </p:spTree>
    <p:extLst>
      <p:ext uri="{BB962C8B-B14F-4D97-AF65-F5344CB8AC3E}">
        <p14:creationId xmlns:p14="http://schemas.microsoft.com/office/powerpoint/2010/main" val="367340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87A00D1-7333-66E6-0F99-105A7933B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in the following commands in your command line. Don’t forget to hit enter after each command: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whoami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echo “Hello World“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1918B59-71BD-1888-F8EA-D0A76AA6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01: Linux commands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746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70158-992F-0EAF-05E7-5AC1D575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Change </a:t>
            </a:r>
            <a:r>
              <a:rPr lang="de-DE" dirty="0" err="1"/>
              <a:t>directory</a:t>
            </a:r>
            <a:r>
              <a:rPr lang="de-DE" dirty="0"/>
              <a:t>: cd</a:t>
            </a:r>
          </a:p>
        </p:txBody>
      </p:sp>
    </p:spTree>
    <p:extLst>
      <p:ext uri="{BB962C8B-B14F-4D97-AF65-F5344CB8AC3E}">
        <p14:creationId xmlns:p14="http://schemas.microsoft.com/office/powerpoint/2010/main" val="153880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DE5ED68-200B-45FB-AE44-506A4FC9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dirty="0"/>
              <a:t> is used to change the directory and therefore is used in most cases with an argument</a:t>
            </a:r>
          </a:p>
          <a:p>
            <a:r>
              <a:rPr lang="en-US" dirty="0"/>
              <a:t>This argument needs to be a directory that is present in your current working directory or the shortcut .. (see next slide for examples) </a:t>
            </a:r>
          </a:p>
          <a:p>
            <a:r>
              <a:rPr lang="en-US" dirty="0"/>
              <a:t>If used without an argument it leads directly to your home directory, in most cases written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/home/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cknorr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for example</a:t>
            </a:r>
          </a:p>
          <a:p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forget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in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  <a:p>
            <a:r>
              <a:rPr lang="de-DE" dirty="0"/>
              <a:t>Keep in </a:t>
            </a:r>
            <a:r>
              <a:rPr lang="de-DE" dirty="0" err="1"/>
              <a:t>mind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lost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filesystem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640327E-06DF-B71D-5B1C-DAAA051B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 I – </a:t>
            </a:r>
            <a:r>
              <a:rPr lang="de-DE" dirty="0" err="1"/>
              <a:t>Usage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505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C1C16C0-2766-3802-BEF6-C62E2E63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 II –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A6D60B-35A7-174C-DDA1-FC4A9177E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Linux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Python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GUI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DA4E08-FDC9-3ABA-3A0B-300F4C48C5CB}"/>
              </a:ext>
            </a:extLst>
          </p:cNvPr>
          <p:cNvSpPr txBox="1"/>
          <p:nvPr/>
        </p:nvSpPr>
        <p:spPr>
          <a:xfrm>
            <a:off x="8433707" y="692696"/>
            <a:ext cx="1535677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Bioinformatics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99216D-20A1-D8C2-7F98-E4AFA163C832}"/>
              </a:ext>
            </a:extLst>
          </p:cNvPr>
          <p:cNvSpPr txBox="1"/>
          <p:nvPr/>
        </p:nvSpPr>
        <p:spPr>
          <a:xfrm>
            <a:off x="6192642" y="1759496"/>
            <a:ext cx="6783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92375EA-79EA-F97D-D7B9-80F3EABC10B3}"/>
              </a:ext>
            </a:extLst>
          </p:cNvPr>
          <p:cNvSpPr txBox="1"/>
          <p:nvPr/>
        </p:nvSpPr>
        <p:spPr>
          <a:xfrm>
            <a:off x="7543405" y="1758177"/>
            <a:ext cx="85241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Python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CC6F0E3-493A-AD42-F21A-25E632837477}"/>
              </a:ext>
            </a:extLst>
          </p:cNvPr>
          <p:cNvSpPr txBox="1"/>
          <p:nvPr/>
        </p:nvSpPr>
        <p:spPr>
          <a:xfrm>
            <a:off x="8945335" y="1758177"/>
            <a:ext cx="11479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Databases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4AE4AF-B023-A1BC-C984-78E918A2A9E9}"/>
              </a:ext>
            </a:extLst>
          </p:cNvPr>
          <p:cNvSpPr txBox="1"/>
          <p:nvPr/>
        </p:nvSpPr>
        <p:spPr>
          <a:xfrm>
            <a:off x="10520332" y="1758177"/>
            <a:ext cx="118974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Sequences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082A362-1505-A31C-A165-71EF50CA8DE8}"/>
              </a:ext>
            </a:extLst>
          </p:cNvPr>
          <p:cNvSpPr txBox="1"/>
          <p:nvPr/>
        </p:nvSpPr>
        <p:spPr>
          <a:xfrm>
            <a:off x="6192642" y="2868083"/>
            <a:ext cx="75052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Basics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31DF7A-7F2E-C085-C905-D8F30CA5F5AA}"/>
              </a:ext>
            </a:extLst>
          </p:cNvPr>
          <p:cNvSpPr txBox="1"/>
          <p:nvPr/>
        </p:nvSpPr>
        <p:spPr>
          <a:xfrm>
            <a:off x="7136450" y="2868083"/>
            <a:ext cx="103746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Variables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AA5B5EE-B154-F410-F974-A57B590EAEC6}"/>
              </a:ext>
            </a:extLst>
          </p:cNvPr>
          <p:cNvSpPr txBox="1"/>
          <p:nvPr/>
        </p:nvSpPr>
        <p:spPr>
          <a:xfrm>
            <a:off x="8367195" y="2868083"/>
            <a:ext cx="73654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Loops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4CA46D5-6888-9B1C-3E3F-F04B13F7BD1E}"/>
              </a:ext>
            </a:extLst>
          </p:cNvPr>
          <p:cNvSpPr txBox="1"/>
          <p:nvPr/>
        </p:nvSpPr>
        <p:spPr>
          <a:xfrm>
            <a:off x="9264846" y="2868083"/>
            <a:ext cx="109517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B3DE5F6-08B8-8C5E-EE0A-74A7C13EEE14}"/>
              </a:ext>
            </a:extLst>
          </p:cNvPr>
          <p:cNvSpPr txBox="1"/>
          <p:nvPr/>
        </p:nvSpPr>
        <p:spPr>
          <a:xfrm>
            <a:off x="10520332" y="2856986"/>
            <a:ext cx="53572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GUI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2D7B58A3-5A80-3CCF-AC21-689893C34AB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7517958" y="75908"/>
            <a:ext cx="697468" cy="2669708"/>
          </a:xfrm>
          <a:prstGeom prst="bentConnector3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3AE8EE38-828C-DE3D-C2D3-C8685B88532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8237505" y="794135"/>
            <a:ext cx="696149" cy="123193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1BFAAD25-A0A3-C847-D380-7EBC8C807E1E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9012352" y="1251221"/>
            <a:ext cx="696149" cy="31776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5801CA05-753F-6E3F-BE75-4894462BF5DA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9810302" y="453271"/>
            <a:ext cx="696149" cy="191366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C823A591-CEE5-B641-DEDF-9657E52B2A58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6898472" y="1796943"/>
            <a:ext cx="740574" cy="140170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59BB10D3-A16A-EE1D-6888-DBE786FCB1CA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7442110" y="2340581"/>
            <a:ext cx="740574" cy="314430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90159E2A-41EC-2D8D-B55E-72AD452475F8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7982253" y="2114867"/>
            <a:ext cx="740574" cy="76585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Verbinder: gewinkelt 35">
            <a:extLst>
              <a:ext uri="{FF2B5EF4-FFF2-40B4-BE49-F238E27FC236}">
                <a16:creationId xmlns:a16="http://schemas.microsoft.com/office/drawing/2014/main" id="{9778E548-E496-BEE6-F9F7-B5727367D793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16200000" flipH="1">
            <a:off x="8520735" y="1576386"/>
            <a:ext cx="740574" cy="1842820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F842BF30-84C9-532A-C93A-568F0AC999E5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16200000" flipH="1">
            <a:off x="9014165" y="1082956"/>
            <a:ext cx="729477" cy="281858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C06789F-C455-7543-D6EE-51359F7F2DEE}"/>
              </a:ext>
            </a:extLst>
          </p:cNvPr>
          <p:cNvGrpSpPr/>
          <p:nvPr/>
        </p:nvGrpSpPr>
        <p:grpSpPr>
          <a:xfrm>
            <a:off x="6057554" y="5592365"/>
            <a:ext cx="3185432" cy="519351"/>
            <a:chOff x="6057554" y="5592365"/>
            <a:chExt cx="3185432" cy="519351"/>
          </a:xfrm>
        </p:grpSpPr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42AD0042-2CC5-D8C6-2466-46EA1F4F1D37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AF7B8953-FBAF-4509-B6DF-7165CEACC794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B3085CA0-A7E7-EDC7-4DB2-7674E141567B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96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A30EF86-AC4B-F94D-9983-6CA4E711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child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,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aware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sensitivity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abbreviation</a:t>
            </a:r>
            <a:r>
              <a:rPr lang="de-DE" dirty="0"/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so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parent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D70396-F582-12F2-4C40-18797540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 III – </a:t>
            </a:r>
            <a:r>
              <a:rPr lang="de-DE" dirty="0" err="1"/>
              <a:t>Explanations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7762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2201061-9456-265C-7641-19F06AF5A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Maneuvering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in a terminal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appear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terrifying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beginning</a:t>
            </a:r>
            <a:endParaRPr lang="de-DE" dirty="0"/>
          </a:p>
          <a:p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at a time and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like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de-DE" dirty="0"/>
              <a:t> in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you‘re</a:t>
            </a:r>
            <a:r>
              <a:rPr lang="de-DE" dirty="0"/>
              <a:t> still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track</a:t>
            </a:r>
          </a:p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form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remember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D383812-5AEA-E907-D58D-BE280DC2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 IV –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not </a:t>
            </a:r>
            <a:r>
              <a:rPr lang="de-DE" dirty="0" err="1"/>
              <a:t>get</a:t>
            </a:r>
            <a:r>
              <a:rPr lang="de-DE" dirty="0"/>
              <a:t> lost?</a:t>
            </a:r>
          </a:p>
        </p:txBody>
      </p:sp>
    </p:spTree>
    <p:extLst>
      <p:ext uri="{BB962C8B-B14F-4D97-AF65-F5344CB8AC3E}">
        <p14:creationId xmlns:p14="http://schemas.microsoft.com/office/powerpoint/2010/main" val="3716456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F0655-EB50-B1D4-219F-09A679DB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list</a:t>
            </a:r>
            <a:r>
              <a:rPr lang="de-DE" dirty="0"/>
              <a:t>: </a:t>
            </a:r>
            <a:r>
              <a:rPr lang="de-DE" dirty="0" err="1"/>
              <a:t>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3992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807A67-67C4-F1C8-6F8F-A1FF7BC50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dirty="0"/>
              <a:t> can be used to display files and directories in a directory</a:t>
            </a:r>
          </a:p>
          <a:p>
            <a:r>
              <a:rPr lang="en-US" dirty="0"/>
              <a:t>Per default it shows the contents of your current working directory</a:t>
            </a:r>
          </a:p>
          <a:p>
            <a:r>
              <a:rPr lang="de-DE" dirty="0"/>
              <a:t>By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argument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Linux</a:t>
            </a:r>
            <a:endParaRPr lang="en-US" dirty="0"/>
          </a:p>
          <a:p>
            <a:r>
              <a:rPr lang="de-DE" dirty="0"/>
              <a:t>Most </a:t>
            </a:r>
            <a:r>
              <a:rPr lang="de-DE" dirty="0" err="1"/>
              <a:t>shells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coding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tell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kind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files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find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18162C7-3A40-1F34-EF81-3F860580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ls</a:t>
            </a:r>
            <a:r>
              <a:rPr lang="de-DE" dirty="0"/>
              <a:t> I – </a:t>
            </a:r>
            <a:r>
              <a:rPr lang="de-DE" dirty="0" err="1"/>
              <a:t>Usage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5980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1D07C92-1823-0FDF-A520-26C78AA9C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5"/>
            <a:ext cx="11520000" cy="4403179"/>
          </a:xfrm>
        </p:spPr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ls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in </a:t>
            </a:r>
            <a:r>
              <a:rPr lang="de-DE" dirty="0" err="1"/>
              <a:t>alphabetical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Numbers</a:t>
            </a:r>
          </a:p>
          <a:p>
            <a:pPr lvl="1"/>
            <a:r>
              <a:rPr lang="de-DE" dirty="0"/>
              <a:t>Upper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letters</a:t>
            </a:r>
            <a:endParaRPr lang="de-DE" dirty="0"/>
          </a:p>
          <a:p>
            <a:pPr lvl="1"/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letters</a:t>
            </a:r>
            <a:endParaRPr lang="de-DE" dirty="0"/>
          </a:p>
          <a:p>
            <a:r>
              <a:rPr lang="de-DE" dirty="0" err="1"/>
              <a:t>Furthermore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(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terminal) and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top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bottom</a:t>
            </a:r>
            <a:r>
              <a:rPr lang="de-DE" dirty="0"/>
              <a:t>, </a:t>
            </a:r>
            <a:r>
              <a:rPr lang="de-DE" dirty="0" err="1"/>
              <a:t>column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column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below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five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farthest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01_Variables.py,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ABI_Files-Linux.zip </a:t>
            </a:r>
            <a:r>
              <a:rPr lang="de-DE" dirty="0" err="1"/>
              <a:t>until</a:t>
            </a:r>
            <a:r>
              <a:rPr lang="de-DE" dirty="0"/>
              <a:t> archive.tar.gz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CE46E23-BAF5-539D-152E-BD4E706FBC80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858" y="5238681"/>
            <a:ext cx="8030696" cy="981212"/>
          </a:xfr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A556A7D4-5D5C-2C61-13BF-AD5D3222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ls</a:t>
            </a:r>
            <a:r>
              <a:rPr lang="de-DE" dirty="0"/>
              <a:t> II – Default Listing</a:t>
            </a:r>
          </a:p>
        </p:txBody>
      </p:sp>
    </p:spTree>
    <p:extLst>
      <p:ext uri="{BB962C8B-B14F-4D97-AF65-F5344CB8AC3E}">
        <p14:creationId xmlns:p14="http://schemas.microsoft.com/office/powerpoint/2010/main" val="303446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044DFD2-AB94-265C-FAC4-BE3101AC6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shells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coding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helps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files</a:t>
            </a:r>
          </a:p>
          <a:p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Unbuntu</a:t>
            </a:r>
            <a:r>
              <a:rPr lang="de-DE" dirty="0"/>
              <a:t> Shell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(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settings</a:t>
            </a:r>
            <a:r>
              <a:rPr lang="de-DE" dirty="0"/>
              <a:t>)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colors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white</a:t>
            </a:r>
            <a:r>
              <a:rPr lang="de-DE" dirty="0"/>
              <a:t>	</a:t>
            </a:r>
            <a:r>
              <a:rPr lang="de-DE" dirty="0">
                <a:sym typeface="Wingdings" panose="05000000000000000000" pitchFamily="2" charset="2"/>
              </a:rPr>
              <a:t> 	normal Files</a:t>
            </a: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blue</a:t>
            </a:r>
            <a:r>
              <a:rPr lang="de-DE" dirty="0">
                <a:sym typeface="Wingdings" panose="05000000000000000000" pitchFamily="2" charset="2"/>
              </a:rPr>
              <a:t>	 	</a:t>
            </a:r>
            <a:r>
              <a:rPr lang="de-DE" dirty="0" err="1">
                <a:sym typeface="Wingdings" panose="05000000000000000000" pitchFamily="2" charset="2"/>
              </a:rPr>
              <a:t>directories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red</a:t>
            </a:r>
            <a:r>
              <a:rPr lang="de-DE" dirty="0">
                <a:sym typeface="Wingdings" panose="05000000000000000000" pitchFamily="2" charset="2"/>
              </a:rPr>
              <a:t>		</a:t>
            </a:r>
            <a:r>
              <a:rPr lang="de-DE" dirty="0" err="1">
                <a:sym typeface="Wingdings" panose="05000000000000000000" pitchFamily="2" charset="2"/>
              </a:rPr>
              <a:t>archives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>
                <a:sym typeface="Wingdings" panose="05000000000000000000" pitchFamily="2" charset="2"/>
              </a:rPr>
              <a:t>pink	 	</a:t>
            </a:r>
            <a:r>
              <a:rPr lang="de-DE" dirty="0" err="1">
                <a:sym typeface="Wingdings" panose="05000000000000000000" pitchFamily="2" charset="2"/>
              </a:rPr>
              <a:t>images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green</a:t>
            </a:r>
            <a:r>
              <a:rPr lang="de-DE" dirty="0">
                <a:sym typeface="Wingdings" panose="05000000000000000000" pitchFamily="2" charset="2"/>
              </a:rPr>
              <a:t>		</a:t>
            </a:r>
            <a:r>
              <a:rPr lang="de-DE" dirty="0" err="1">
                <a:sym typeface="Wingdings" panose="05000000000000000000" pitchFamily="2" charset="2"/>
              </a:rPr>
              <a:t>executable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files</a:t>
            </a:r>
            <a:r>
              <a:rPr lang="de-DE" dirty="0">
                <a:sym typeface="Wingdings" panose="05000000000000000000" pitchFamily="2" charset="2"/>
              </a:rPr>
              <a:t> like bash </a:t>
            </a:r>
            <a:r>
              <a:rPr lang="de-DE" dirty="0" err="1">
                <a:sym typeface="Wingdings" panose="05000000000000000000" pitchFamily="2" charset="2"/>
              </a:rPr>
              <a:t>scripts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FB7D714-B12F-4AC8-8EA7-E0873607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ls</a:t>
            </a:r>
            <a:r>
              <a:rPr lang="de-DE" dirty="0"/>
              <a:t> III – Color Coding</a:t>
            </a:r>
          </a:p>
        </p:txBody>
      </p:sp>
    </p:spTree>
    <p:extLst>
      <p:ext uri="{BB962C8B-B14F-4D97-AF65-F5344CB8AC3E}">
        <p14:creationId xmlns:p14="http://schemas.microsoft.com/office/powerpoint/2010/main" val="2017687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429D0B-620E-2EB2-9B40-B5C4F2229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-l 		</a:t>
            </a:r>
            <a:r>
              <a:rPr lang="en-US" dirty="0"/>
              <a:t>– stands for long, uses a long listing format in the output to display </a:t>
            </a:r>
          </a:p>
          <a:p>
            <a:pPr marL="0" indent="0">
              <a:buNone/>
            </a:pPr>
            <a:r>
              <a:rPr lang="en-US" dirty="0"/>
              <a:t>		   more information than just the name (more later)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-a</a:t>
            </a:r>
            <a:r>
              <a:rPr lang="en-US" dirty="0"/>
              <a:t> 		– stands for all, shows results for the current directory, the parent </a:t>
            </a:r>
          </a:p>
          <a:p>
            <a:pPr marL="0" indent="0">
              <a:buNone/>
            </a:pPr>
            <a:r>
              <a:rPr lang="en-US" dirty="0"/>
              <a:t>		   directory and for files starting with a “.” (hidden files)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</a:t>
            </a:r>
            <a:r>
              <a:rPr lang="en-US" dirty="0"/>
              <a:t> 		– results are sorted by timestamp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</a:t>
            </a:r>
            <a:r>
              <a:rPr lang="en-US" dirty="0"/>
              <a:t> 		– results are shown in reverse order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--help 	</a:t>
            </a:r>
            <a:r>
              <a:rPr lang="en-US" dirty="0"/>
              <a:t>– displays a short help for 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3745F9-B6E6-4CCA-73DA-4E4EDD9A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ls</a:t>
            </a:r>
            <a:r>
              <a:rPr lang="de-DE" dirty="0"/>
              <a:t> IV – Options</a:t>
            </a:r>
          </a:p>
        </p:txBody>
      </p:sp>
    </p:spTree>
    <p:extLst>
      <p:ext uri="{BB962C8B-B14F-4D97-AF65-F5344CB8AC3E}">
        <p14:creationId xmlns:p14="http://schemas.microsoft.com/office/powerpoint/2010/main" val="2413582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37A6D-7901-FADF-4CD8-4952595E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: </a:t>
            </a:r>
            <a:r>
              <a:rPr lang="de-DE" dirty="0" err="1"/>
              <a:t>mkdir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8203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DD5382-08F4-B93C-51D6-CBC3F3342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do NOT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exist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name_of_new_directories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dirty="0"/>
              <a:t>	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Mydirectory</a:t>
            </a:r>
            <a:r>
              <a:rPr lang="de-DE" dirty="0"/>
              <a:t> 		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Mydirectory</a:t>
            </a:r>
          </a:p>
          <a:p>
            <a:r>
              <a:rPr lang="de-DE" dirty="0"/>
              <a:t>The </a:t>
            </a:r>
            <a:r>
              <a:rPr lang="de-DE" dirty="0" err="1"/>
              <a:t>corresponding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child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mkdir</a:t>
            </a:r>
            <a:r>
              <a:rPr lang="de-DE" dirty="0"/>
              <a:t>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arguments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at </a:t>
            </a:r>
            <a:r>
              <a:rPr lang="de-DE" dirty="0" err="1"/>
              <a:t>once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Python SQL 	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Python and SQL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75C9A0-34F5-974A-037A-D634163E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mkdir</a:t>
            </a:r>
            <a:r>
              <a:rPr lang="de-DE" dirty="0"/>
              <a:t> I – </a:t>
            </a:r>
            <a:r>
              <a:rPr lang="de-DE" dirty="0" err="1"/>
              <a:t>Usage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3945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537E4A-9A8A-54BD-BCC1-3B03DEAD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mkdir II –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0F26C8-8ED4-12A8-08CB-01B64B38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like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endParaRPr lang="de-DE" dirty="0"/>
          </a:p>
          <a:p>
            <a:pPr marL="360363" lvl="1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Mydirectory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2012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Jan Feb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2014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2014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Jan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Jan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mkdir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471D66-05B0-B3F5-E842-7A4E33761739}"/>
              </a:ext>
            </a:extLst>
          </p:cNvPr>
          <p:cNvSpPr txBox="1"/>
          <p:nvPr/>
        </p:nvSpPr>
        <p:spPr>
          <a:xfrm>
            <a:off x="7326117" y="845096"/>
            <a:ext cx="678391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52A104-FB64-0709-361C-2250A3AFEE33}"/>
              </a:ext>
            </a:extLst>
          </p:cNvPr>
          <p:cNvSpPr txBox="1"/>
          <p:nvPr/>
        </p:nvSpPr>
        <p:spPr>
          <a:xfrm>
            <a:off x="5487760" y="1929627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F1B3C1-4552-2778-E18D-8C74F559F36D}"/>
              </a:ext>
            </a:extLst>
          </p:cNvPr>
          <p:cNvSpPr txBox="1"/>
          <p:nvPr/>
        </p:nvSpPr>
        <p:spPr>
          <a:xfrm>
            <a:off x="7338940" y="1929627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508F2E0-7768-2730-0C69-127A082E6945}"/>
              </a:ext>
            </a:extLst>
          </p:cNvPr>
          <p:cNvSpPr txBox="1"/>
          <p:nvPr/>
        </p:nvSpPr>
        <p:spPr>
          <a:xfrm>
            <a:off x="8480943" y="1929627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7B5DB29-6CB5-A664-2EC3-08ADAF28FC41}"/>
              </a:ext>
            </a:extLst>
          </p:cNvPr>
          <p:cNvSpPr txBox="1"/>
          <p:nvPr/>
        </p:nvSpPr>
        <p:spPr>
          <a:xfrm>
            <a:off x="8561896" y="2967941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176336-571C-5D9F-F616-C45A2A2EB347}"/>
              </a:ext>
            </a:extLst>
          </p:cNvPr>
          <p:cNvSpPr txBox="1"/>
          <p:nvPr/>
        </p:nvSpPr>
        <p:spPr>
          <a:xfrm>
            <a:off x="8496718" y="3945583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07BCB71F-F87E-A16F-1A43-2D14D383B21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6551545" y="815858"/>
            <a:ext cx="715199" cy="151233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CB89AEB1-A406-5255-113B-CEA828B0663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307714" y="1572027"/>
            <a:ext cx="715199" cy="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DEC45E6D-4AFF-30F9-31FC-FF5F6400D91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7878715" y="1001026"/>
            <a:ext cx="715199" cy="114200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D2E26D64-A227-7AFF-22E2-B839C56FCD9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8472824" y="2633449"/>
            <a:ext cx="668982" cy="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F7A7E1E-2C2F-593B-D58E-7826BF7CFF89}"/>
              </a:ext>
            </a:extLst>
          </p:cNvPr>
          <p:cNvCxnSpPr/>
          <p:nvPr/>
        </p:nvCxnSpPr>
        <p:spPr>
          <a:xfrm>
            <a:off x="5567942" y="23812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FD1035D-11EC-0B6F-3CCB-D86062A6BDF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8807316" y="3337273"/>
            <a:ext cx="0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7FFA1F4-F3B0-1119-CDBB-150F754B6C02}"/>
              </a:ext>
            </a:extLst>
          </p:cNvPr>
          <p:cNvSpPr txBox="1"/>
          <p:nvPr/>
        </p:nvSpPr>
        <p:spPr>
          <a:xfrm>
            <a:off x="9578799" y="1929626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F51D732-A952-22B5-48CE-B0D439CF3793}"/>
              </a:ext>
            </a:extLst>
          </p:cNvPr>
          <p:cNvSpPr txBox="1"/>
          <p:nvPr/>
        </p:nvSpPr>
        <p:spPr>
          <a:xfrm>
            <a:off x="10403420" y="1929626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F5239F9A-3052-7A91-5967-E1F1495A506C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16200000" flipH="1">
            <a:off x="8807845" y="71895"/>
            <a:ext cx="715198" cy="3000263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A5534514-E1F3-74D7-0CB1-A5B3E7C8C63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8387167" y="492574"/>
            <a:ext cx="715198" cy="215890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55E9088-3192-3A3F-AE93-173CBBA7E8A4}"/>
              </a:ext>
            </a:extLst>
          </p:cNvPr>
          <p:cNvGrpSpPr/>
          <p:nvPr/>
        </p:nvGrpSpPr>
        <p:grpSpPr>
          <a:xfrm>
            <a:off x="6057554" y="5592365"/>
            <a:ext cx="3185432" cy="519351"/>
            <a:chOff x="6057554" y="5592365"/>
            <a:chExt cx="3185432" cy="51935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04E3EBB-8435-23AD-2035-28F851149C82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B4F65A1-53B4-F987-BF8F-57FC3AFFDC43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E832BF8-EC81-3796-A986-C8A0FC5DBE0D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146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4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B895AC8-B19D-F066-CB38-FCB71A2F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02: New </a:t>
            </a:r>
            <a:r>
              <a:rPr lang="de-DE" dirty="0" err="1"/>
              <a:t>directories</a:t>
            </a:r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98E45D4-13A3-F2F0-CCDB-0616179F8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5664000" cy="1202779"/>
          </a:xfrm>
        </p:spPr>
        <p:txBody>
          <a:bodyPr/>
          <a:lstStyle/>
          <a:p>
            <a:r>
              <a:rPr lang="en-US" dirty="0"/>
              <a:t>Create directories for the following topics:</a:t>
            </a: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E3118B-ACAB-B134-5089-5CFE063ACC8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92640" y="692696"/>
            <a:ext cx="5664000" cy="5616624"/>
          </a:xfrm>
        </p:spPr>
        <p:txBody>
          <a:bodyPr numCol="2"/>
          <a:lstStyle/>
          <a:p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Python </a:t>
            </a:r>
            <a:r>
              <a:rPr lang="de-DE" dirty="0" err="1"/>
              <a:t>create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Basics</a:t>
            </a:r>
          </a:p>
          <a:p>
            <a:pPr lvl="1"/>
            <a:r>
              <a:rPr lang="de-DE" dirty="0"/>
              <a:t>Variables</a:t>
            </a:r>
          </a:p>
          <a:p>
            <a:pPr lvl="1"/>
            <a:r>
              <a:rPr lang="de-DE" dirty="0"/>
              <a:t>Branchings</a:t>
            </a:r>
          </a:p>
          <a:p>
            <a:pPr lvl="1"/>
            <a:r>
              <a:rPr lang="de-DE" dirty="0"/>
              <a:t>Loops</a:t>
            </a:r>
          </a:p>
          <a:p>
            <a:pPr lvl="1"/>
            <a:r>
              <a:rPr lang="de-DE" dirty="0" err="1"/>
              <a:t>Functions</a:t>
            </a:r>
            <a:endParaRPr lang="de-DE" dirty="0"/>
          </a:p>
          <a:p>
            <a:pPr lvl="1"/>
            <a:r>
              <a:rPr lang="de-DE" dirty="0" err="1"/>
              <a:t>Advanced</a:t>
            </a:r>
            <a:r>
              <a:rPr lang="de-DE" dirty="0"/>
              <a:t> </a:t>
            </a:r>
            <a:r>
              <a:rPr lang="de-DE" dirty="0" err="1"/>
              <a:t>Programming</a:t>
            </a:r>
            <a:endParaRPr lang="de-DE" dirty="0"/>
          </a:p>
          <a:p>
            <a:pPr lvl="1"/>
            <a:endParaRPr lang="de-DE" sz="1800" dirty="0"/>
          </a:p>
          <a:p>
            <a:r>
              <a:rPr lang="en-US" dirty="0"/>
              <a:t>In the directory Alignments create:</a:t>
            </a:r>
          </a:p>
          <a:p>
            <a:pPr lvl="1"/>
            <a:r>
              <a:rPr lang="en-US" dirty="0"/>
              <a:t>Pairwise</a:t>
            </a:r>
          </a:p>
          <a:p>
            <a:pPr lvl="1"/>
            <a:r>
              <a:rPr lang="en-US" dirty="0"/>
              <a:t>MSA</a:t>
            </a:r>
          </a:p>
          <a:p>
            <a:pPr lvl="1"/>
            <a:r>
              <a:rPr lang="en-US" dirty="0"/>
              <a:t>Database search</a:t>
            </a:r>
          </a:p>
          <a:p>
            <a:pPr lvl="1"/>
            <a:r>
              <a:rPr lang="en-US" dirty="0"/>
              <a:t>Analysis</a:t>
            </a:r>
          </a:p>
          <a:p>
            <a:endParaRPr lang="de-DE" sz="22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ADC7595-D1FE-B5E5-DB5A-7CEDC6FE9A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5360" y="1962150"/>
            <a:ext cx="5664000" cy="4347170"/>
          </a:xfrm>
        </p:spPr>
        <p:txBody>
          <a:bodyPr numCol="2"/>
          <a:lstStyle/>
          <a:p>
            <a:pPr lvl="1"/>
            <a:r>
              <a:rPr lang="en-US" dirty="0"/>
              <a:t>Linux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GUIs</a:t>
            </a:r>
          </a:p>
          <a:p>
            <a:pPr lvl="1"/>
            <a:r>
              <a:rPr lang="en-US" dirty="0"/>
              <a:t>Biopython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Working with Strings</a:t>
            </a:r>
          </a:p>
          <a:p>
            <a:pPr lvl="1"/>
            <a:r>
              <a:rPr lang="en-US" dirty="0"/>
              <a:t>Alignments</a:t>
            </a:r>
          </a:p>
          <a:p>
            <a:pPr lvl="1"/>
            <a:r>
              <a:rPr lang="en-US" dirty="0"/>
              <a:t>Structural Bioinformatics</a:t>
            </a:r>
          </a:p>
          <a:p>
            <a:pPr lvl="1"/>
            <a:r>
              <a:rPr lang="en-US" dirty="0"/>
              <a:t>NGS Analysis</a:t>
            </a:r>
          </a:p>
          <a:p>
            <a:pPr lvl="1"/>
            <a:r>
              <a:rPr lang="en-US" dirty="0"/>
              <a:t>Statistics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334960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D0061-F4A0-AEC4-09F4-2DDE6A01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Create </a:t>
            </a:r>
            <a:r>
              <a:rPr lang="de-DE" dirty="0" err="1"/>
              <a:t>files</a:t>
            </a:r>
            <a:r>
              <a:rPr lang="de-DE" dirty="0"/>
              <a:t>: </a:t>
            </a:r>
            <a:r>
              <a:rPr lang="de-DE" dirty="0" err="1"/>
              <a:t>touch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426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B008C0B-4405-3FA3-41AB-7A362024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Bash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touch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files</a:t>
            </a:r>
          </a:p>
          <a:p>
            <a:r>
              <a:rPr lang="de-DE" dirty="0"/>
              <a:t>The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syntax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r>
              <a:rPr lang="de-DE" dirty="0"/>
              <a:t>So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en-US" dirty="0"/>
              <a:t>“Hello.txt” you could use touch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touch Hello.txt</a:t>
            </a:r>
          </a:p>
          <a:p>
            <a:r>
              <a:rPr lang="en-US" dirty="0"/>
              <a:t>We can also use touch to create multiple files at once by simply handing over multiple file names as argument to touch</a:t>
            </a:r>
          </a:p>
          <a:p>
            <a:r>
              <a:rPr lang="en-US" dirty="0"/>
              <a:t>So we can create the files “Hello.txt” and “World.txt” at the same time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touch Hello.txt  World.txt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453C1B0-6991-0788-75FB-96A33943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touch</a:t>
            </a:r>
            <a:r>
              <a:rPr lang="de-DE" dirty="0"/>
              <a:t> I – Syntax </a:t>
            </a:r>
          </a:p>
        </p:txBody>
      </p:sp>
    </p:spTree>
    <p:extLst>
      <p:ext uri="{BB962C8B-B14F-4D97-AF65-F5344CB8AC3E}">
        <p14:creationId xmlns:p14="http://schemas.microsoft.com/office/powerpoint/2010/main" val="3296013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0697C4A-0C70-DBEC-95EA-A36F6CF2F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extensions</a:t>
            </a:r>
            <a:r>
              <a:rPr lang="de-DE" dirty="0"/>
              <a:t>, e.g. .</a:t>
            </a:r>
            <a:r>
              <a:rPr lang="de-DE" dirty="0" err="1"/>
              <a:t>pdb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.</a:t>
            </a:r>
            <a:r>
              <a:rPr lang="de-DE" dirty="0" err="1"/>
              <a:t>fasta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Test.pdb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Christoph.fasta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 err="1"/>
              <a:t>Independently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will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an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338EC96-1A26-5241-2CE2-3215BD47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touch</a:t>
            </a:r>
            <a:r>
              <a:rPr lang="de-DE" dirty="0"/>
              <a:t> II – </a:t>
            </a:r>
            <a:r>
              <a:rPr lang="de-DE" dirty="0" err="1"/>
              <a:t>Extensions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4129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45F9B7-DADA-1140-9C05-11C654435CB0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touch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files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World.txt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World.txt</a:t>
            </a:r>
          </a:p>
          <a:p>
            <a:r>
              <a:rPr lang="de-DE" dirty="0"/>
              <a:t>In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touch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nothing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will </a:t>
            </a:r>
            <a:r>
              <a:rPr lang="de-DE" dirty="0" err="1"/>
              <a:t>stay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6B0E86-AFC4-EBC6-A839-6F37D77C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touch</a:t>
            </a:r>
            <a:r>
              <a:rPr lang="de-DE" dirty="0"/>
              <a:t> III – </a:t>
            </a:r>
            <a:r>
              <a:rPr lang="de-DE" dirty="0" err="1"/>
              <a:t>Duplicates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6555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537E4A-9A8A-54BD-BCC1-3B03DEAD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touch</a:t>
            </a:r>
            <a:r>
              <a:rPr lang="de-DE" dirty="0"/>
              <a:t> IV –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0F26C8-8ED4-12A8-08CB-01B64B38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like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Hello.txt</a:t>
            </a:r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World.txt Test.txt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2014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Jan</a:t>
            </a:r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stats.txt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cd Feb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stats.txt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471D66-05B0-B3F5-E842-7A4E33761739}"/>
              </a:ext>
            </a:extLst>
          </p:cNvPr>
          <p:cNvSpPr txBox="1"/>
          <p:nvPr/>
        </p:nvSpPr>
        <p:spPr>
          <a:xfrm>
            <a:off x="7326117" y="845096"/>
            <a:ext cx="678391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52A104-FB64-0709-361C-2250A3AFEE33}"/>
              </a:ext>
            </a:extLst>
          </p:cNvPr>
          <p:cNvSpPr txBox="1"/>
          <p:nvPr/>
        </p:nvSpPr>
        <p:spPr>
          <a:xfrm>
            <a:off x="5487760" y="1929627"/>
            <a:ext cx="1160649" cy="497919"/>
          </a:xfrm>
          <a:prstGeom prst="roundRect">
            <a:avLst>
              <a:gd name="adj" fmla="val 45289"/>
            </a:avLst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Hello.txt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508F2E0-7768-2730-0C69-127A082E6945}"/>
              </a:ext>
            </a:extLst>
          </p:cNvPr>
          <p:cNvSpPr txBox="1"/>
          <p:nvPr/>
        </p:nvSpPr>
        <p:spPr>
          <a:xfrm>
            <a:off x="9033838" y="1929627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7B5DB29-6CB5-A664-2EC3-08ADAF28FC41}"/>
              </a:ext>
            </a:extLst>
          </p:cNvPr>
          <p:cNvSpPr txBox="1"/>
          <p:nvPr/>
        </p:nvSpPr>
        <p:spPr>
          <a:xfrm>
            <a:off x="8557403" y="2829492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176336-571C-5D9F-F616-C45A2A2EB347}"/>
              </a:ext>
            </a:extLst>
          </p:cNvPr>
          <p:cNvSpPr txBox="1"/>
          <p:nvPr/>
        </p:nvSpPr>
        <p:spPr>
          <a:xfrm>
            <a:off x="8290693" y="3807134"/>
            <a:ext cx="1026664" cy="469344"/>
          </a:xfrm>
          <a:prstGeom prst="roundRect">
            <a:avLst>
              <a:gd name="adj" fmla="val 37483"/>
            </a:avLst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stats.txt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587AFB-799A-0B2B-6C10-0291E5E06B59}"/>
              </a:ext>
            </a:extLst>
          </p:cNvPr>
          <p:cNvSpPr txBox="1"/>
          <p:nvPr/>
        </p:nvSpPr>
        <p:spPr>
          <a:xfrm>
            <a:off x="9852803" y="2829492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2218856-4211-D3EB-B09D-B8099750E276}"/>
              </a:ext>
            </a:extLst>
          </p:cNvPr>
          <p:cNvSpPr txBox="1"/>
          <p:nvPr/>
        </p:nvSpPr>
        <p:spPr>
          <a:xfrm>
            <a:off x="9591681" y="3807134"/>
            <a:ext cx="1053587" cy="497919"/>
          </a:xfrm>
          <a:prstGeom prst="roundRect">
            <a:avLst>
              <a:gd name="adj" fmla="val 45289"/>
            </a:avLst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stats.txt</a:t>
            </a:r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07BCB71F-F87E-A16F-1A43-2D14D383B21D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6473086" y="737399"/>
            <a:ext cx="715199" cy="166925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CB89AEB1-A406-5255-113B-CEA828B0663F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7299137" y="1577694"/>
            <a:ext cx="729443" cy="291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DEC45E6D-4AFF-30F9-31FC-FF5F6400D91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155162" y="724578"/>
            <a:ext cx="715199" cy="169489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DDA1FFFF-1AC6-BF30-381C-36ED14A2FA2B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9472318" y="2186850"/>
            <a:ext cx="530533" cy="75474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D2E26D64-A227-7AFF-22E2-B839C56FCD9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8816251" y="2285532"/>
            <a:ext cx="530533" cy="55738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F7A7E1E-2C2F-593B-D58E-7826BF7CFF89}"/>
              </a:ext>
            </a:extLst>
          </p:cNvPr>
          <p:cNvCxnSpPr/>
          <p:nvPr/>
        </p:nvCxnSpPr>
        <p:spPr>
          <a:xfrm>
            <a:off x="5567942" y="23812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FD1035D-11EC-0B6F-3CCB-D86062A6BDF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8802823" y="3198824"/>
            <a:ext cx="1202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652ED58-9F83-42F2-97F8-AC871698EEDE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114959" y="3198824"/>
            <a:ext cx="3516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A5534514-E1F3-74D7-0CB1-A5B3E7C8C635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rot="16200000" flipH="1">
            <a:off x="8687835" y="191905"/>
            <a:ext cx="715199" cy="2760243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55E9088-3192-3A3F-AE93-173CBBA7E8A4}"/>
              </a:ext>
            </a:extLst>
          </p:cNvPr>
          <p:cNvGrpSpPr/>
          <p:nvPr/>
        </p:nvGrpSpPr>
        <p:grpSpPr>
          <a:xfrm>
            <a:off x="6057554" y="5592365"/>
            <a:ext cx="3185432" cy="519351"/>
            <a:chOff x="6057554" y="5592365"/>
            <a:chExt cx="3185432" cy="51935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04E3EBB-8435-23AD-2035-28F851149C82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B4F65A1-53B4-F987-BF8F-57FC3AFFDC43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E832BF8-EC81-3796-A986-C8A0FC5DBE0D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  <p:sp>
        <p:nvSpPr>
          <p:cNvPr id="24" name="Textfeld 23">
            <a:extLst>
              <a:ext uri="{FF2B5EF4-FFF2-40B4-BE49-F238E27FC236}">
                <a16:creationId xmlns:a16="http://schemas.microsoft.com/office/drawing/2014/main" id="{4CF22745-B722-B220-CA8C-0701CC234004}"/>
              </a:ext>
            </a:extLst>
          </p:cNvPr>
          <p:cNvSpPr txBox="1"/>
          <p:nvPr/>
        </p:nvSpPr>
        <p:spPr>
          <a:xfrm>
            <a:off x="6960885" y="1943871"/>
            <a:ext cx="1403034" cy="497919"/>
          </a:xfrm>
          <a:prstGeom prst="roundRect">
            <a:avLst>
              <a:gd name="adj" fmla="val 45289"/>
            </a:avLst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World.txt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282AA8C-A6D1-58C5-3637-A5917541735A}"/>
              </a:ext>
            </a:extLst>
          </p:cNvPr>
          <p:cNvSpPr txBox="1"/>
          <p:nvPr/>
        </p:nvSpPr>
        <p:spPr>
          <a:xfrm>
            <a:off x="9845231" y="1929627"/>
            <a:ext cx="1160649" cy="497919"/>
          </a:xfrm>
          <a:prstGeom prst="roundRect">
            <a:avLst>
              <a:gd name="adj" fmla="val 45289"/>
            </a:avLst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Test.txt</a:t>
            </a:r>
          </a:p>
        </p:txBody>
      </p:sp>
    </p:spTree>
    <p:extLst>
      <p:ext uri="{BB962C8B-B14F-4D97-AF65-F5344CB8AC3E}">
        <p14:creationId xmlns:p14="http://schemas.microsoft.com/office/powerpoint/2010/main" val="401063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24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0630F31-CC93-B6BD-4C91-77F3C5348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11520000" cy="732067"/>
          </a:xfrm>
        </p:spPr>
        <p:txBody>
          <a:bodyPr/>
          <a:lstStyle/>
          <a:p>
            <a:r>
              <a:rPr lang="de-DE" dirty="0"/>
              <a:t>Create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below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indicated</a:t>
            </a:r>
            <a:r>
              <a:rPr lang="de-DE" dirty="0"/>
              <a:t>:</a:t>
            </a:r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D6C6E0C9-3A7B-A2CE-86D4-7B4308AB26D8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679274176"/>
              </p:ext>
            </p:extLst>
          </p:nvPr>
        </p:nvGraphicFramePr>
        <p:xfrm>
          <a:off x="1926082" y="1951825"/>
          <a:ext cx="8338556" cy="3689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0387">
                  <a:extLst>
                    <a:ext uri="{9D8B030D-6E8A-4147-A177-3AD203B41FA5}">
                      <a16:colId xmlns:a16="http://schemas.microsoft.com/office/drawing/2014/main" val="1633486881"/>
                    </a:ext>
                  </a:extLst>
                </a:gridCol>
                <a:gridCol w="1548169">
                  <a:extLst>
                    <a:ext uri="{9D8B030D-6E8A-4147-A177-3AD203B41FA5}">
                      <a16:colId xmlns:a16="http://schemas.microsoft.com/office/drawing/2014/main" val="2114120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file(s)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directory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7388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Names.txt, Files.txt, Sequences.fasta, Countries.txt, Capitals.txt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650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Programs.txt, Modules.txt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082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Buttons.txt, Labels.txt, LabelFrames.txt, Windows.py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460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Searches.txt, Results.txt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Biopython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905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databases.txt, secondary_dbs.txt, primary_dbs.txt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538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helicases.txt, polymerases.txt, kinases.gb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Alignments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30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Reads.fastq</a:t>
                      </a:r>
                      <a:r>
                        <a:rPr lang="de-DE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Inputs.txt, Outputs.txt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NGS Analysis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65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Means.txt, Sequences.fasta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Statistics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6753689"/>
                  </a:ext>
                </a:extLst>
              </a:tr>
            </a:tbl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B4B28CED-402C-3953-F1AE-18065642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03: New Files</a:t>
            </a:r>
          </a:p>
        </p:txBody>
      </p:sp>
    </p:spTree>
    <p:extLst>
      <p:ext uri="{BB962C8B-B14F-4D97-AF65-F5344CB8AC3E}">
        <p14:creationId xmlns:p14="http://schemas.microsoft.com/office/powerpoint/2010/main" val="1721501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0BFE0-E8CA-3E19-3B71-DDEB0167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remove</a:t>
            </a:r>
            <a:r>
              <a:rPr lang="de-DE" dirty="0"/>
              <a:t>: </a:t>
            </a:r>
            <a:r>
              <a:rPr lang="de-DE" dirty="0" err="1"/>
              <a:t>rm</a:t>
            </a:r>
            <a:r>
              <a:rPr lang="de-DE" dirty="0"/>
              <a:t> / </a:t>
            </a:r>
            <a:r>
              <a:rPr lang="de-DE" dirty="0" err="1"/>
              <a:t>rmdir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5788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6E1FD50-9E9C-C981-E53F-17A2C30A4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permanentely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files and </a:t>
            </a:r>
            <a:r>
              <a:rPr lang="de-DE" dirty="0" err="1"/>
              <a:t>directories</a:t>
            </a:r>
            <a:r>
              <a:rPr lang="de-DE" dirty="0"/>
              <a:t> via </a:t>
            </a:r>
            <a:r>
              <a:rPr lang="de-DE" dirty="0" err="1"/>
              <a:t>the</a:t>
            </a:r>
            <a:r>
              <a:rPr lang="de-DE" dirty="0"/>
              <a:t> terminal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Bash </a:t>
            </a:r>
            <a:r>
              <a:rPr lang="de-DE" dirty="0" err="1"/>
              <a:t>commands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mainly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slides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careful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warning</a:t>
            </a:r>
            <a:r>
              <a:rPr lang="de-DE" dirty="0"/>
              <a:t> and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restore </a:t>
            </a:r>
            <a:r>
              <a:rPr lang="de-DE" dirty="0" err="1"/>
              <a:t>anything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deleted</a:t>
            </a:r>
            <a:r>
              <a:rPr lang="de-DE" dirty="0"/>
              <a:t> like </a:t>
            </a:r>
            <a:r>
              <a:rPr lang="de-DE" dirty="0" err="1"/>
              <a:t>this</a:t>
            </a:r>
            <a:endParaRPr lang="de-DE" dirty="0"/>
          </a:p>
          <a:p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you‘re</a:t>
            </a:r>
            <a:r>
              <a:rPr lang="de-DE" dirty="0"/>
              <a:t> </a:t>
            </a:r>
            <a:r>
              <a:rPr lang="de-DE" dirty="0" err="1"/>
              <a:t>totally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more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3B454A-5164-E408-6808-921B586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files/directories I – Basics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87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D41BC3A-D1AA-12CF-5F1D-1C761A2BB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a </a:t>
            </a:r>
            <a:r>
              <a:rPr lang="de-DE" dirty="0" err="1"/>
              <a:t>file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So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you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want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delete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file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Hello.txt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you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use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rm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follows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Hello.txt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Just like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touch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command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rm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takes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multiple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arguments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well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and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allows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us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delete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just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one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World.txt Test.pdb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The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command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above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would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delete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two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called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World.txt and Test.pdb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9C6D21-AD70-6444-8E45-1BB7B132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files/directories II – Deleting files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629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5C40BE2-73F1-7ADF-4A14-277DF1188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deleting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differentiate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and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rmdir: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directory_name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r>
              <a:rPr lang="de-DE" dirty="0"/>
              <a:t>So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2014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2014</a:t>
            </a:r>
          </a:p>
          <a:p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rmdir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specify</a:t>
            </a:r>
            <a:r>
              <a:rPr lang="de-DE" dirty="0"/>
              <a:t> multiple </a:t>
            </a:r>
            <a:r>
              <a:rPr lang="de-DE" dirty="0" err="1"/>
              <a:t>arguments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2012 2014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C066403-A78C-6F15-807C-BE3B3128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files/directories III – Deleting directories 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1179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153AB85-FB18-FE40-E53D-D4F349E5D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a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–r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directory_name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r>
              <a:rPr lang="de-DE" dirty="0"/>
              <a:t>So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(</a:t>
            </a:r>
            <a:r>
              <a:rPr lang="de-DE" dirty="0" err="1"/>
              <a:t>filled</a:t>
            </a:r>
            <a:r>
              <a:rPr lang="de-DE" dirty="0"/>
              <a:t>) </a:t>
            </a:r>
            <a:r>
              <a:rPr lang="de-DE" dirty="0" err="1"/>
              <a:t>directory</a:t>
            </a:r>
            <a:r>
              <a:rPr lang="de-DE" dirty="0"/>
              <a:t> 2014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–r 2014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thing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–r </a:t>
            </a:r>
            <a:r>
              <a:rPr lang="de-DE" dirty="0" err="1"/>
              <a:t>option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rm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endParaRPr lang="de-DE" dirty="0"/>
          </a:p>
          <a:p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rm</a:t>
            </a:r>
            <a:r>
              <a:rPr lang="de-DE" dirty="0"/>
              <a:t> –r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arguments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delete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(</a:t>
            </a:r>
            <a:r>
              <a:rPr lang="de-DE" dirty="0" err="1"/>
              <a:t>filled</a:t>
            </a:r>
            <a:r>
              <a:rPr lang="de-DE" dirty="0"/>
              <a:t>) </a:t>
            </a:r>
            <a:r>
              <a:rPr lang="de-DE" dirty="0" err="1"/>
              <a:t>directory</a:t>
            </a:r>
            <a:r>
              <a:rPr lang="de-DE" dirty="0"/>
              <a:t> at a time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–r 2014 2015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BF6291A-B8C8-8FA3-C524-EC618CA3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files/directories IV – Deleting directories II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230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BE41FC9-329D-2810-0B48-65D6812AD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files/directories shown in the table below in the directory indicated: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202F37-A25C-9348-7FCC-3C61905C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04 – </a:t>
            </a:r>
            <a:r>
              <a:rPr lang="de-DE" dirty="0" err="1"/>
              <a:t>Deleting</a:t>
            </a:r>
            <a:r>
              <a:rPr lang="de-DE" dirty="0"/>
              <a:t> Things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0A38FFA1-EC2F-44E4-3A6E-4E31FBB5B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335209"/>
              </p:ext>
            </p:extLst>
          </p:nvPr>
        </p:nvGraphicFramePr>
        <p:xfrm>
          <a:off x="3503691" y="1957916"/>
          <a:ext cx="3900989" cy="3689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889">
                  <a:extLst>
                    <a:ext uri="{9D8B030D-6E8A-4147-A177-3AD203B41FA5}">
                      <a16:colId xmlns:a16="http://schemas.microsoft.com/office/drawing/2014/main" val="895855034"/>
                    </a:ext>
                  </a:extLst>
                </a:gridCol>
                <a:gridCol w="2033100">
                  <a:extLst>
                    <a:ext uri="{9D8B030D-6E8A-4147-A177-3AD203B41FA5}">
                      <a16:colId xmlns:a16="http://schemas.microsoft.com/office/drawing/2014/main" val="4218508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File/Directory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Directory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221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Countries.txt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89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Capitals.txt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0189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Windows.py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160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Results.txt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Biopython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264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Statistics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 directory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332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Analysis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Alignments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824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Pairwise</a:t>
                      </a:r>
                      <a:endParaRPr lang="de-D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Alignments</a:t>
                      </a:r>
                      <a:endParaRPr lang="de-D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1429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Outputs.txt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NGS Analysis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3563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510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F879D-B74C-7220-A711-A0DD99E2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move</a:t>
            </a:r>
            <a:r>
              <a:rPr lang="de-DE" dirty="0"/>
              <a:t>: mv</a:t>
            </a:r>
          </a:p>
        </p:txBody>
      </p:sp>
    </p:spTree>
    <p:extLst>
      <p:ext uri="{BB962C8B-B14F-4D97-AF65-F5344CB8AC3E}">
        <p14:creationId xmlns:p14="http://schemas.microsoft.com/office/powerpoint/2010/main" val="2443146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173830A-9649-2C7A-027D-9D6215EB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Move (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mv</a:t>
            </a:r>
            <a:r>
              <a:rPr lang="de-DE" dirty="0"/>
              <a:t>)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rename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takes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arguments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meanings</a:t>
            </a:r>
            <a:endParaRPr lang="de-DE" dirty="0"/>
          </a:p>
          <a:p>
            <a:pPr marL="817563" lvl="1" indent="-457200">
              <a:buFont typeface="+mj-lt"/>
              <a:buAutoNum type="arabicPeriod"/>
            </a:pPr>
            <a:r>
              <a:rPr lang="de-DE" dirty="0"/>
              <a:t>The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endParaRPr lang="de-DE" dirty="0"/>
          </a:p>
          <a:p>
            <a:pPr marL="817563" lvl="1" indent="-457200">
              <a:buFont typeface="+mj-lt"/>
              <a:buAutoNum type="arabicPeriod"/>
            </a:pPr>
            <a:r>
              <a:rPr lang="de-DE" dirty="0"/>
              <a:t>The </a:t>
            </a:r>
            <a:r>
              <a:rPr lang="de-DE" dirty="0" err="1"/>
              <a:t>new</a:t>
            </a:r>
            <a:r>
              <a:rPr lang="de-DE" dirty="0"/>
              <a:t> “Name“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two</a:t>
            </a:r>
            <a:r>
              <a:rPr lang="de-DE" dirty="0"/>
              <a:t> different </a:t>
            </a:r>
            <a:r>
              <a:rPr lang="de-DE" dirty="0" err="1"/>
              <a:t>things</a:t>
            </a:r>
            <a:r>
              <a:rPr lang="de-DE" dirty="0"/>
              <a:t>:</a:t>
            </a:r>
          </a:p>
          <a:p>
            <a:pPr marL="817563" lvl="1" indent="-457200">
              <a:buFont typeface="+mj-lt"/>
              <a:buAutoNum type="arabicPeriod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command</a:t>
            </a:r>
            <a:endParaRPr lang="de-DE" dirty="0"/>
          </a:p>
          <a:p>
            <a:pPr marL="817563" lvl="1" indent="-457200">
              <a:buFont typeface="+mj-lt"/>
              <a:buAutoNum type="arabicPeriod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/>
              <a:t>As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on </a:t>
            </a:r>
            <a:r>
              <a:rPr lang="de-DE" dirty="0" err="1"/>
              <a:t>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4932F2-0DAF-42EC-EE24-2E49A1E7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 I – Basics</a:t>
            </a:r>
          </a:p>
        </p:txBody>
      </p:sp>
    </p:spTree>
    <p:extLst>
      <p:ext uri="{BB962C8B-B14F-4D97-AF65-F5344CB8AC3E}">
        <p14:creationId xmlns:p14="http://schemas.microsoft.com/office/powerpoint/2010/main" val="1589673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66F4CD-26C8-C7C9-5C83-7DE7D5B3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syntax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mv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mv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file_to_move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Be </a:t>
            </a:r>
            <a:r>
              <a:rPr lang="de-DE" dirty="0" err="1"/>
              <a:t>careful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,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overwrites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warning</a:t>
            </a:r>
            <a:r>
              <a:rPr lang="de-DE" dirty="0"/>
              <a:t>, so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unique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destination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rename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football.txt </a:t>
            </a:r>
            <a:r>
              <a:rPr lang="de-DE" dirty="0" err="1"/>
              <a:t>into</a:t>
            </a:r>
            <a:r>
              <a:rPr lang="de-DE" dirty="0"/>
              <a:t> soccer.txt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command</a:t>
            </a:r>
            <a:endParaRPr lang="de-DE" dirty="0"/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mv football.txt soccer.txt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Mydirectory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2014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mv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Mydirectory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2014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53FFC7F-F4D6-DD79-10E7-41576C88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 II – Syntax</a:t>
            </a:r>
          </a:p>
        </p:txBody>
      </p:sp>
    </p:spTree>
    <p:extLst>
      <p:ext uri="{BB962C8B-B14F-4D97-AF65-F5344CB8AC3E}">
        <p14:creationId xmlns:p14="http://schemas.microsoft.com/office/powerpoint/2010/main" val="3485560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4214D-E317-C36F-89E3-D65F0FDF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 III –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643C67-F89E-0576-F1F8-5668D4799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Renaming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mv football.txt soccer.txt</a:t>
            </a:r>
          </a:p>
          <a:p>
            <a:r>
              <a:rPr lang="de-DE" dirty="0" err="1"/>
              <a:t>Renaming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mv 2012 Hello</a:t>
            </a:r>
          </a:p>
          <a:p>
            <a:r>
              <a:rPr lang="de-DE" dirty="0"/>
              <a:t>Moving </a:t>
            </a:r>
            <a:r>
              <a:rPr lang="de-DE" dirty="0" err="1"/>
              <a:t>directories</a:t>
            </a:r>
            <a:r>
              <a:rPr lang="de-DE" dirty="0"/>
              <a:t>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mv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Mydirectory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2014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Moving Files and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Renaming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mv soccer.txt 2014/football.txt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91DB68-AAA9-D5CF-9056-7D54FF945088}"/>
              </a:ext>
            </a:extLst>
          </p:cNvPr>
          <p:cNvSpPr txBox="1"/>
          <p:nvPr/>
        </p:nvSpPr>
        <p:spPr>
          <a:xfrm>
            <a:off x="7973817" y="845096"/>
            <a:ext cx="6783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0B440DA-5287-DF35-B428-094396693EA4}"/>
              </a:ext>
            </a:extLst>
          </p:cNvPr>
          <p:cNvSpPr txBox="1"/>
          <p:nvPr/>
        </p:nvSpPr>
        <p:spPr>
          <a:xfrm>
            <a:off x="5897335" y="1929627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14C416-7F56-DF2E-033D-00F4FF3D9853}"/>
              </a:ext>
            </a:extLst>
          </p:cNvPr>
          <p:cNvSpPr txBox="1"/>
          <p:nvPr/>
        </p:nvSpPr>
        <p:spPr>
          <a:xfrm>
            <a:off x="7748515" y="1929627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9AAF81-F39C-1399-5BA6-6283A0890C0B}"/>
              </a:ext>
            </a:extLst>
          </p:cNvPr>
          <p:cNvSpPr txBox="1"/>
          <p:nvPr/>
        </p:nvSpPr>
        <p:spPr>
          <a:xfrm>
            <a:off x="8890518" y="1929627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BBBF222-BABC-4927-CB12-5ADB4CD853DC}"/>
              </a:ext>
            </a:extLst>
          </p:cNvPr>
          <p:cNvSpPr txBox="1"/>
          <p:nvPr/>
        </p:nvSpPr>
        <p:spPr>
          <a:xfrm>
            <a:off x="8414083" y="2829492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7266755-F6F1-CCE9-3C46-8B71E1484175}"/>
              </a:ext>
            </a:extLst>
          </p:cNvPr>
          <p:cNvSpPr txBox="1"/>
          <p:nvPr/>
        </p:nvSpPr>
        <p:spPr>
          <a:xfrm>
            <a:off x="8348905" y="3807134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8E6CD98-DA95-343D-F1AE-1A98DFDA47C9}"/>
              </a:ext>
            </a:extLst>
          </p:cNvPr>
          <p:cNvSpPr txBox="1"/>
          <p:nvPr/>
        </p:nvSpPr>
        <p:spPr>
          <a:xfrm>
            <a:off x="9709483" y="2829492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935C71-A2FD-5B28-A52D-757951708A44}"/>
              </a:ext>
            </a:extLst>
          </p:cNvPr>
          <p:cNvSpPr txBox="1"/>
          <p:nvPr/>
        </p:nvSpPr>
        <p:spPr>
          <a:xfrm>
            <a:off x="9663355" y="3807134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2969E066-BB8A-1087-0E4F-B0880E70391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7080183" y="696796"/>
            <a:ext cx="715199" cy="1750463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2C7D0B01-E5B6-E675-A11D-BC6C32205B5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836351" y="1452964"/>
            <a:ext cx="715199" cy="23812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C790D944-C6AC-CB73-1B16-F4275B53814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407352" y="1120088"/>
            <a:ext cx="715199" cy="90387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A863DAB0-7D24-8297-6BFA-2524975D0E06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9328998" y="2186850"/>
            <a:ext cx="530533" cy="75474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6E99EB0D-CE5C-1C40-5DE7-B92BC1D5DB1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8672931" y="2285532"/>
            <a:ext cx="530533" cy="55738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1372320-C266-6C2B-CE8E-1EC725A6A36A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659503" y="3198824"/>
            <a:ext cx="0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14130E9-C1E2-EB0F-FE53-762D1981786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971639" y="3198824"/>
            <a:ext cx="2314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551528F1-A91E-E455-A66B-6EA988F4C4B9}"/>
              </a:ext>
            </a:extLst>
          </p:cNvPr>
          <p:cNvSpPr txBox="1"/>
          <p:nvPr/>
        </p:nvSpPr>
        <p:spPr>
          <a:xfrm>
            <a:off x="10107757" y="1925678"/>
            <a:ext cx="1412515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football.txt</a:t>
            </a:r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D4006D76-3448-F2F2-61DD-1A51C2721CD7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9184631" y="342810"/>
            <a:ext cx="711250" cy="245448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59900301-A96E-FAC0-0882-23648000EAE8}"/>
              </a:ext>
            </a:extLst>
          </p:cNvPr>
          <p:cNvSpPr txBox="1"/>
          <p:nvPr/>
        </p:nvSpPr>
        <p:spPr>
          <a:xfrm>
            <a:off x="10180246" y="1925678"/>
            <a:ext cx="1174506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soccer.txt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7698AF5-6541-603D-0648-C9504A04EB1E}"/>
              </a:ext>
            </a:extLst>
          </p:cNvPr>
          <p:cNvSpPr txBox="1"/>
          <p:nvPr/>
        </p:nvSpPr>
        <p:spPr>
          <a:xfrm>
            <a:off x="7750161" y="1930446"/>
            <a:ext cx="67197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Hello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88C6547-601B-B157-B7EE-00AEF62168AC}"/>
              </a:ext>
            </a:extLst>
          </p:cNvPr>
          <p:cNvSpPr txBox="1"/>
          <p:nvPr/>
        </p:nvSpPr>
        <p:spPr>
          <a:xfrm>
            <a:off x="6565179" y="2829491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D52FAD8-4F46-D461-DA45-1B24ABB3B767}"/>
              </a:ext>
            </a:extLst>
          </p:cNvPr>
          <p:cNvCxnSpPr>
            <a:cxnSpLocks/>
            <a:stCxn id="8" idx="2"/>
            <a:endCxn id="27" idx="0"/>
          </p:cNvCxnSpPr>
          <p:nvPr/>
        </p:nvCxnSpPr>
        <p:spPr>
          <a:xfrm rot="5400000">
            <a:off x="7958376" y="1570977"/>
            <a:ext cx="530532" cy="198649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A272CE1-2117-CBEB-42D2-854A53F2D27A}"/>
              </a:ext>
            </a:extLst>
          </p:cNvPr>
          <p:cNvSpPr txBox="1"/>
          <p:nvPr/>
        </p:nvSpPr>
        <p:spPr>
          <a:xfrm>
            <a:off x="10627377" y="2829491"/>
            <a:ext cx="1333503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football.txt</a:t>
            </a:r>
          </a:p>
        </p:txBody>
      </p: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38B041F8-9BFE-71F1-8DF3-CE00ECD8720A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9990243" y="1525605"/>
            <a:ext cx="530532" cy="207723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E460C20-3748-F1FF-0B44-0AF43701E9C9}"/>
              </a:ext>
            </a:extLst>
          </p:cNvPr>
          <p:cNvGrpSpPr/>
          <p:nvPr/>
        </p:nvGrpSpPr>
        <p:grpSpPr>
          <a:xfrm>
            <a:off x="6057554" y="5592365"/>
            <a:ext cx="3185432" cy="519351"/>
            <a:chOff x="6057554" y="5592365"/>
            <a:chExt cx="3185432" cy="519351"/>
          </a:xfrm>
        </p:grpSpPr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70BE71DF-3070-D06F-1CC3-D6544D9C986E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BFEC2582-F205-BE60-AD64-35DB0F5B14A5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AF574CA-7A7B-855D-DEDE-9BD4D8A5DAEE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28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0" grpId="0" animBg="1"/>
      <p:bldP spid="24" grpId="0" animBg="1"/>
      <p:bldP spid="24" grpId="1" animBg="1"/>
      <p:bldP spid="25" grpId="0" animBg="1"/>
      <p:bldP spid="27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BFCB71D-1FB2-3E1D-0E22-43B5CE2D8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command</a:t>
            </a:r>
            <a:r>
              <a:rPr lang="de-DE" dirty="0"/>
              <a:t> mv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different </a:t>
            </a:r>
            <a:r>
              <a:rPr lang="de-DE" dirty="0" err="1"/>
              <a:t>ways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rename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argument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/</a:t>
            </a:r>
            <a:r>
              <a:rPr lang="de-DE" dirty="0" err="1"/>
              <a:t>rename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argument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destination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  <a:p>
            <a:pPr lvl="1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destination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moved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 lvl="1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destination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completely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renamed</a:t>
            </a:r>
            <a:r>
              <a:rPr lang="de-DE" dirty="0"/>
              <a:t> </a:t>
            </a:r>
            <a:r>
              <a:rPr lang="de-DE" dirty="0" err="1"/>
              <a:t>instead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42F3E3-4840-40A2-171C-14D9B65A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 IV – Summary</a:t>
            </a:r>
          </a:p>
        </p:txBody>
      </p:sp>
    </p:spTree>
    <p:extLst>
      <p:ext uri="{BB962C8B-B14F-4D97-AF65-F5344CB8AC3E}">
        <p14:creationId xmlns:p14="http://schemas.microsoft.com/office/powerpoint/2010/main" val="1859312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D5DD91B-F432-F853-A194-1364C43E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mv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 command to move or rename files and or directories according to the table below</a:t>
            </a:r>
          </a:p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All files/directories were created during Exercise 02 and Exercise 03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A1709B-88CE-6EAB-1784-AD57E8E9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05: Moving files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EC315201-043D-C1CB-9F75-BF877BAAB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91704"/>
              </p:ext>
            </p:extLst>
          </p:nvPr>
        </p:nvGraphicFramePr>
        <p:xfrm>
          <a:off x="2104991" y="2456904"/>
          <a:ext cx="717235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420">
                  <a:extLst>
                    <a:ext uri="{9D8B030D-6E8A-4147-A177-3AD203B41FA5}">
                      <a16:colId xmlns:a16="http://schemas.microsoft.com/office/drawing/2014/main" val="3457078299"/>
                    </a:ext>
                  </a:extLst>
                </a:gridCol>
                <a:gridCol w="1280714">
                  <a:extLst>
                    <a:ext uri="{9D8B030D-6E8A-4147-A177-3AD203B41FA5}">
                      <a16:colId xmlns:a16="http://schemas.microsoft.com/office/drawing/2014/main" val="3899768506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4015896406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1021648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file</a:t>
                      </a:r>
                      <a:r>
                        <a:rPr lang="de-DE" dirty="0"/>
                        <a:t>/</a:t>
                      </a:r>
                      <a:r>
                        <a:rPr lang="de-DE" dirty="0" err="1"/>
                        <a:t>directory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process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destination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7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Names.txt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rename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FullName.txt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0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Files.txt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move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 </a:t>
                      </a:r>
                      <a:r>
                        <a:rPr lang="de-DE" dirty="0" err="1"/>
                        <a:t>new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directory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called</a:t>
                      </a:r>
                      <a:r>
                        <a:rPr lang="de-DE" dirty="0"/>
                        <a:t> 2014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0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Searches.txt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Biopython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rename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Sequences.gb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0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Programs.txt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rename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Scripts.txt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70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Modules.txt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rename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Classes.txt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13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Buttons.txt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move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 </a:t>
                      </a:r>
                      <a:r>
                        <a:rPr lang="de-DE" dirty="0" err="1"/>
                        <a:t>new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directory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called</a:t>
                      </a:r>
                      <a:r>
                        <a:rPr lang="de-DE" dirty="0"/>
                        <a:t> Widgets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1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Basics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rename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Introduction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36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move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Introduction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16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Branchings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move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Advanced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Programming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4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943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FBC82-98DE-D10D-C5E0-BE097723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copy</a:t>
            </a:r>
            <a:r>
              <a:rPr lang="de-DE" dirty="0"/>
              <a:t>: </a:t>
            </a:r>
            <a:r>
              <a:rPr lang="de-DE" dirty="0" err="1"/>
              <a:t>cp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1574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12B4B93-AEFD-8102-BA99-EE78DD1E7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Copy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/>
              <a:t>)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/>
              <a:t>In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same </a:t>
            </a:r>
            <a:r>
              <a:rPr lang="de-DE" dirty="0" err="1"/>
              <a:t>principles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mv but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renaming</a:t>
            </a:r>
            <a:r>
              <a:rPr lang="de-DE" dirty="0"/>
              <a:t>/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r>
              <a:rPr lang="de-DE" dirty="0" err="1"/>
              <a:t>It</a:t>
            </a:r>
            <a:r>
              <a:rPr lang="de-DE" dirty="0"/>
              <a:t> also </a:t>
            </a:r>
            <a:r>
              <a:rPr lang="de-DE" dirty="0" err="1"/>
              <a:t>takes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arguments</a:t>
            </a:r>
            <a:endParaRPr lang="de-DE" dirty="0"/>
          </a:p>
          <a:p>
            <a:pPr marL="817563" lvl="1" indent="-457200">
              <a:buFont typeface="+mj-lt"/>
              <a:buAutoNum type="arabicPeriod"/>
            </a:pP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endParaRPr lang="de-DE" dirty="0"/>
          </a:p>
          <a:p>
            <a:pPr marL="817563" lvl="1" indent="-457200">
              <a:buFont typeface="+mj-lt"/>
              <a:buAutoNum type="arabicPeriod"/>
            </a:pPr>
            <a:r>
              <a:rPr lang="de-DE" dirty="0"/>
              <a:t>The </a:t>
            </a:r>
            <a:r>
              <a:rPr lang="de-DE" dirty="0" err="1"/>
              <a:t>new</a:t>
            </a:r>
            <a:r>
              <a:rPr lang="de-DE" dirty="0"/>
              <a:t> “Name“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copy</a:t>
            </a:r>
            <a:endParaRPr lang="de-DE" dirty="0"/>
          </a:p>
          <a:p>
            <a:r>
              <a:rPr lang="de-DE" dirty="0"/>
              <a:t>Per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cp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football.txt and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soccer.txt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football.txt soccer.txt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2D2EFE-C632-738D-9EF7-98ACAB78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cp</a:t>
            </a:r>
            <a:r>
              <a:rPr lang="de-DE" dirty="0"/>
              <a:t> I – Basics</a:t>
            </a:r>
          </a:p>
        </p:txBody>
      </p:sp>
    </p:spTree>
    <p:extLst>
      <p:ext uri="{BB962C8B-B14F-4D97-AF65-F5344CB8AC3E}">
        <p14:creationId xmlns:p14="http://schemas.microsoft.com/office/powerpoint/2010/main" val="2093658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EA6A209-5C98-A077-0179-517B2AA13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cp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it‘s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an </a:t>
            </a:r>
            <a:r>
              <a:rPr lang="de-DE" dirty="0" err="1"/>
              <a:t>option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alter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–r: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–r 2012 2012_copy</a:t>
            </a:r>
          </a:p>
          <a:p>
            <a:r>
              <a:rPr lang="de-DE" dirty="0"/>
              <a:t>The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2012 and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copy</a:t>
            </a:r>
            <a:r>
              <a:rPr lang="de-DE" dirty="0"/>
              <a:t> 2012_copy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4BEA5D-08D5-62D3-41DC-45694AF8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cp</a:t>
            </a:r>
            <a:r>
              <a:rPr lang="de-DE" dirty="0"/>
              <a:t> II – </a:t>
            </a:r>
            <a:r>
              <a:rPr lang="de-DE" dirty="0" err="1"/>
              <a:t>Directories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2888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4851A-4F2D-A350-8EF8-69148C67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cp</a:t>
            </a:r>
            <a:r>
              <a:rPr lang="de-DE" dirty="0"/>
              <a:t> III –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0BBF50-F040-5144-C357-BB7A40E89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6800512" cy="5616624"/>
          </a:xfrm>
        </p:spPr>
        <p:txBody>
          <a:bodyPr/>
          <a:lstStyle/>
          <a:p>
            <a:r>
              <a:rPr lang="de-DE" dirty="0" err="1"/>
              <a:t>Copying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test.txt test_copy.txt</a:t>
            </a:r>
          </a:p>
          <a:p>
            <a:r>
              <a:rPr lang="de-DE" dirty="0" err="1"/>
              <a:t>Copying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-r 2012 2012_copy</a:t>
            </a:r>
          </a:p>
          <a:p>
            <a:r>
              <a:rPr lang="de-DE" dirty="0" err="1"/>
              <a:t>Copying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test.txt 2014</a:t>
            </a:r>
          </a:p>
          <a:p>
            <a:r>
              <a:rPr lang="de-DE" dirty="0" err="1"/>
              <a:t>Copying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directories</a:t>
            </a:r>
            <a:endParaRPr lang="de-DE" dirty="0"/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–r 2012 2014</a:t>
            </a:r>
          </a:p>
          <a:p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Copying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files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into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with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new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names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test.txt 2014/test_copy.txt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5C99BB-31CE-6FB9-C8F4-DF56441D4B23}"/>
              </a:ext>
            </a:extLst>
          </p:cNvPr>
          <p:cNvSpPr txBox="1"/>
          <p:nvPr/>
        </p:nvSpPr>
        <p:spPr>
          <a:xfrm>
            <a:off x="8716767" y="845096"/>
            <a:ext cx="6783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947068-1917-E5B2-3199-F8083CC073CA}"/>
              </a:ext>
            </a:extLst>
          </p:cNvPr>
          <p:cNvSpPr txBox="1"/>
          <p:nvPr/>
        </p:nvSpPr>
        <p:spPr>
          <a:xfrm>
            <a:off x="7850367" y="1920087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9C79BA-23C8-8E7B-3A69-627A45CF02BC}"/>
              </a:ext>
            </a:extLst>
          </p:cNvPr>
          <p:cNvSpPr txBox="1"/>
          <p:nvPr/>
        </p:nvSpPr>
        <p:spPr>
          <a:xfrm>
            <a:off x="9328725" y="1940316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3A6AF66-8711-D9C0-C70A-E20E3DF3FE54}"/>
              </a:ext>
            </a:extLst>
          </p:cNvPr>
          <p:cNvSpPr txBox="1"/>
          <p:nvPr/>
        </p:nvSpPr>
        <p:spPr>
          <a:xfrm>
            <a:off x="10147780" y="1940808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898CF7F-53BE-4763-00D8-BDA0FA86090F}"/>
              </a:ext>
            </a:extLst>
          </p:cNvPr>
          <p:cNvSpPr txBox="1"/>
          <p:nvPr/>
        </p:nvSpPr>
        <p:spPr>
          <a:xfrm>
            <a:off x="9395158" y="2829492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7AA2176-84DA-46A8-EACB-E1789A9C6227}"/>
              </a:ext>
            </a:extLst>
          </p:cNvPr>
          <p:cNvSpPr txBox="1"/>
          <p:nvPr/>
        </p:nvSpPr>
        <p:spPr>
          <a:xfrm>
            <a:off x="9329980" y="3807134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ECFA17C-2F7B-DA7D-60BB-7158473A4075}"/>
              </a:ext>
            </a:extLst>
          </p:cNvPr>
          <p:cNvSpPr txBox="1"/>
          <p:nvPr/>
        </p:nvSpPr>
        <p:spPr>
          <a:xfrm>
            <a:off x="10690558" y="2829492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7015C59-CCDB-BC99-136D-DFCD1653F93F}"/>
              </a:ext>
            </a:extLst>
          </p:cNvPr>
          <p:cNvSpPr txBox="1"/>
          <p:nvPr/>
        </p:nvSpPr>
        <p:spPr>
          <a:xfrm>
            <a:off x="10644430" y="3807134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3BCF983C-10BD-37E7-FD76-B2C200DABEF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8432944" y="1297067"/>
            <a:ext cx="705659" cy="54038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96541AAC-4295-5899-06CB-13492D5B689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8992586" y="1277805"/>
            <a:ext cx="725888" cy="59913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7244FB55-9DC3-3247-1990-94410C5FFCD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9401867" y="868523"/>
            <a:ext cx="726380" cy="141818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462E4FB4-18E7-505F-A915-9E93FCAA2BFC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10453757" y="2330535"/>
            <a:ext cx="519352" cy="47856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2725446D-4720-D4BA-46C9-EF658981487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9797689" y="2153029"/>
            <a:ext cx="519352" cy="83357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8FBE1E1-258E-E36F-E23E-026CDCE4D4B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9640578" y="3198824"/>
            <a:ext cx="0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ED89962-3BFC-C065-A065-CEBBE3FF9F5F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952714" y="3198824"/>
            <a:ext cx="2314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BE6517CE-C08D-E42C-0BF3-AE7F8DDEF013}"/>
              </a:ext>
            </a:extLst>
          </p:cNvPr>
          <p:cNvSpPr txBox="1"/>
          <p:nvPr/>
        </p:nvSpPr>
        <p:spPr>
          <a:xfrm>
            <a:off x="10850708" y="1925678"/>
            <a:ext cx="927187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test.txt</a:t>
            </a:r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B3504C20-37BA-5B45-974E-3888ED54C1BC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9931086" y="339304"/>
            <a:ext cx="711250" cy="246149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D7B2D611-3FC5-71A8-9AE4-48174B789DB7}"/>
              </a:ext>
            </a:extLst>
          </p:cNvPr>
          <p:cNvSpPr txBox="1"/>
          <p:nvPr/>
        </p:nvSpPr>
        <p:spPr>
          <a:xfrm>
            <a:off x="6049647" y="1925677"/>
            <a:ext cx="1646881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test_copy.txt</a:t>
            </a:r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F2C2500B-03FD-C774-044B-D25A526F8EF4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7501159" y="370872"/>
            <a:ext cx="711249" cy="239836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79652571-1933-E5A8-89B5-7F505D249158}"/>
              </a:ext>
            </a:extLst>
          </p:cNvPr>
          <p:cNvSpPr txBox="1"/>
          <p:nvPr/>
        </p:nvSpPr>
        <p:spPr>
          <a:xfrm>
            <a:off x="4697618" y="1929627"/>
            <a:ext cx="121071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2012_copy</a:t>
            </a:r>
          </a:p>
        </p:txBody>
      </p: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DD98AC08-C278-CAD0-B29F-F6C14445E7F6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rot="5400000">
            <a:off x="6821871" y="-304466"/>
            <a:ext cx="715199" cy="375298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3B90D842-04D4-A357-2FE6-FA5A2528866A}"/>
              </a:ext>
            </a:extLst>
          </p:cNvPr>
          <p:cNvSpPr txBox="1"/>
          <p:nvPr/>
        </p:nvSpPr>
        <p:spPr>
          <a:xfrm>
            <a:off x="8109714" y="2828509"/>
            <a:ext cx="966952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test.txt</a:t>
            </a:r>
          </a:p>
        </p:txBody>
      </p: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45E6E9EE-FCEA-80EF-FB34-C19CEA2E188B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9277248" y="1642786"/>
            <a:ext cx="529550" cy="186425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63140A66-E54D-2312-6C3E-A27193CCFA4F}"/>
              </a:ext>
            </a:extLst>
          </p:cNvPr>
          <p:cNvSpPr txBox="1"/>
          <p:nvPr/>
        </p:nvSpPr>
        <p:spPr>
          <a:xfrm>
            <a:off x="7257633" y="2828509"/>
            <a:ext cx="67197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2012</a:t>
            </a:r>
          </a:p>
        </p:txBody>
      </p: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1A9343BF-D461-F123-8BB5-8FEC645007B7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 rot="5400000">
            <a:off x="8774704" y="1129060"/>
            <a:ext cx="518369" cy="288052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D1C01EDB-02C6-74FB-A6FD-47FF18239190}"/>
              </a:ext>
            </a:extLst>
          </p:cNvPr>
          <p:cNvSpPr txBox="1"/>
          <p:nvPr/>
        </p:nvSpPr>
        <p:spPr>
          <a:xfrm>
            <a:off x="5467636" y="2828509"/>
            <a:ext cx="1522456" cy="519351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test_copy.txt</a:t>
            </a:r>
          </a:p>
        </p:txBody>
      </p: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7DC679DF-C504-27C1-9083-771C0D9B5E33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8078685" y="444223"/>
            <a:ext cx="529550" cy="426138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1CC4AB7-B8A7-FE0B-6724-5B933DA113F1}"/>
              </a:ext>
            </a:extLst>
          </p:cNvPr>
          <p:cNvGrpSpPr/>
          <p:nvPr/>
        </p:nvGrpSpPr>
        <p:grpSpPr>
          <a:xfrm>
            <a:off x="7840052" y="5538571"/>
            <a:ext cx="3185432" cy="519351"/>
            <a:chOff x="6057554" y="5592365"/>
            <a:chExt cx="3185432" cy="519351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C8E9CB51-2000-64CB-CC23-49D2ABBA4C41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3CE5C049-948A-F6D3-9F3C-BCB8E8B3C454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2604B19E-F544-3B6A-371D-F27BD3D0C015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579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31" grpId="0" animBg="1"/>
      <p:bldP spid="33" grpId="0" animBg="1"/>
      <p:bldP spid="4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0FDBF1D-609B-33DB-A089-920BD751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dirty="0"/>
              <a:t> command to copy some of your files and/or directories according to the table below: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0B0298-2D5E-174E-1C40-F4CBD113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06: </a:t>
            </a:r>
            <a:r>
              <a:rPr lang="de-DE" dirty="0" err="1"/>
              <a:t>Copying</a:t>
            </a:r>
            <a:r>
              <a:rPr lang="de-DE" dirty="0"/>
              <a:t> Files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051FDB46-785B-AB84-B080-F37ED940F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1077"/>
              </p:ext>
            </p:extLst>
          </p:nvPr>
        </p:nvGraphicFramePr>
        <p:xfrm>
          <a:off x="2358489" y="2117925"/>
          <a:ext cx="641890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72">
                  <a:extLst>
                    <a:ext uri="{9D8B030D-6E8A-4147-A177-3AD203B41FA5}">
                      <a16:colId xmlns:a16="http://schemas.microsoft.com/office/drawing/2014/main" val="3457078299"/>
                    </a:ext>
                  </a:extLst>
                </a:gridCol>
                <a:gridCol w="1319232">
                  <a:extLst>
                    <a:ext uri="{9D8B030D-6E8A-4147-A177-3AD203B41FA5}">
                      <a16:colId xmlns:a16="http://schemas.microsoft.com/office/drawing/2014/main" val="348644738"/>
                    </a:ext>
                  </a:extLst>
                </a:gridCol>
                <a:gridCol w="2879002">
                  <a:extLst>
                    <a:ext uri="{9D8B030D-6E8A-4147-A177-3AD203B41FA5}">
                      <a16:colId xmlns:a16="http://schemas.microsoft.com/office/drawing/2014/main" val="1021648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file/directory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destination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037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Sequences.gb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Biopython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Database_searches.txt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50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databases.txt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dbs/databases.txt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320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secondary_dbs.txt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</a:t>
                      </a: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/secondary.txt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220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primary_dbs.txt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Databases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dbs/primary.txt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770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helicases.txt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Alignments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helicases.gb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113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polymerases.txt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0" baseline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Alignments</a:t>
                      </a:r>
                      <a:endParaRPr lang="de-DE" sz="1800" kern="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polymerases.gb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521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Loops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Advanced</a:t>
                      </a: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Programming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836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Functions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e-DE" sz="1800" kern="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Advanced</a:t>
                      </a: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Programming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716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Working </a:t>
                      </a: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de-DE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Strings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de-DE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StringMethods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804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071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FA9CA-F1DE-9D07-C944-8D3B3982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in Linux</a:t>
            </a:r>
          </a:p>
        </p:txBody>
      </p:sp>
    </p:spTree>
    <p:extLst>
      <p:ext uri="{BB962C8B-B14F-4D97-AF65-F5344CB8AC3E}">
        <p14:creationId xmlns:p14="http://schemas.microsoft.com/office/powerpoint/2010/main" val="1804400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3D5A803-ADFF-2DA2-18B7-6C381B342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692696"/>
            <a:ext cx="11580415" cy="5616624"/>
          </a:xfrm>
        </p:spPr>
        <p:txBody>
          <a:bodyPr/>
          <a:lstStyle/>
          <a:p>
            <a:r>
              <a:rPr lang="en-US" dirty="0"/>
              <a:t>We saw that some Bash commands need files and/or directories as arguments to do their work</a:t>
            </a:r>
          </a:p>
          <a:p>
            <a:r>
              <a:rPr lang="en-US" dirty="0"/>
              <a:t>We also saw that it can become tedious especially when moving and/or copying files to use the same command over and over again to make sure we copied all files</a:t>
            </a:r>
          </a:p>
          <a:p>
            <a:r>
              <a:rPr lang="en-US" dirty="0"/>
              <a:t>To make our live easier Bash commands are able to use wildcards to hit symbols in the names of files and/or directories</a:t>
            </a:r>
          </a:p>
          <a:p>
            <a:r>
              <a:rPr lang="en-US" dirty="0"/>
              <a:t>These wildcards are placeholders and allow us to work on multiple files that have similar names at once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66526D-B86A-42C3-4DA6-E05F7827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I – Basics</a:t>
            </a:r>
          </a:p>
        </p:txBody>
      </p:sp>
    </p:spTree>
    <p:extLst>
      <p:ext uri="{BB962C8B-B14F-4D97-AF65-F5344CB8AC3E}">
        <p14:creationId xmlns:p14="http://schemas.microsoft.com/office/powerpoint/2010/main" val="35111995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002281A-A1A1-0846-B9AA-D87F96A0A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Wildcards </a:t>
            </a:r>
            <a:r>
              <a:rPr lang="de-DE" dirty="0" err="1"/>
              <a:t>are</a:t>
            </a:r>
            <a:r>
              <a:rPr lang="de-DE" dirty="0"/>
              <a:t> Bash </a:t>
            </a:r>
            <a:r>
              <a:rPr lang="de-DE" dirty="0" err="1"/>
              <a:t>specific</a:t>
            </a:r>
            <a:r>
              <a:rPr lang="de-DE" dirty="0"/>
              <a:t> and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 </a:t>
            </a:r>
            <a:r>
              <a:rPr lang="de-DE" dirty="0" err="1"/>
              <a:t>wildcard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represents</a:t>
            </a:r>
            <a:r>
              <a:rPr lang="de-DE" dirty="0"/>
              <a:t> 0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symbols</a:t>
            </a:r>
            <a:r>
              <a:rPr lang="de-DE" dirty="0"/>
              <a:t>/</a:t>
            </a:r>
            <a:r>
              <a:rPr lang="de-DE" dirty="0" err="1"/>
              <a:t>characters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*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 </a:t>
            </a:r>
            <a:r>
              <a:rPr lang="de-DE" dirty="0" err="1"/>
              <a:t>wildcard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represents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symbol</a:t>
            </a:r>
            <a:r>
              <a:rPr lang="de-DE" dirty="0"/>
              <a:t>/</a:t>
            </a:r>
            <a:r>
              <a:rPr lang="de-DE" dirty="0" err="1"/>
              <a:t>character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?</a:t>
            </a:r>
          </a:p>
          <a:p>
            <a:r>
              <a:rPr lang="de-DE" dirty="0"/>
              <a:t>In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all Bash </a:t>
            </a:r>
            <a:r>
              <a:rPr lang="de-DE" dirty="0" err="1"/>
              <a:t>commands</a:t>
            </a:r>
            <a:r>
              <a:rPr lang="de-DE" dirty="0"/>
              <a:t>, but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restrictions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mv and </a:t>
            </a:r>
            <a:r>
              <a:rPr lang="de-DE" dirty="0" err="1"/>
              <a:t>cp</a:t>
            </a:r>
            <a:r>
              <a:rPr lang="de-DE" dirty="0"/>
              <a:t> </a:t>
            </a:r>
            <a:r>
              <a:rPr lang="de-DE" dirty="0" err="1"/>
              <a:t>accept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argument</a:t>
            </a:r>
            <a:r>
              <a:rPr lang="de-DE" dirty="0"/>
              <a:t> but not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(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destination</a:t>
            </a:r>
            <a:r>
              <a:rPr lang="de-DE" dirty="0"/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298906-3FFF-0541-A374-032E5A77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II – </a:t>
            </a:r>
            <a:r>
              <a:rPr lang="de-DE" dirty="0" err="1"/>
              <a:t>Types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7877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A06ADE7-22D0-644D-D3B5-CE913AD4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 * ” can be used to match 0 or more symbols and we can use it in combination with ls for example: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magic* </a:t>
            </a:r>
            <a:r>
              <a:rPr lang="en-US" dirty="0"/>
              <a:t>shows all files/directories that start “magic” (A)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*magic* </a:t>
            </a:r>
            <a:r>
              <a:rPr lang="en-US" dirty="0"/>
              <a:t>shows all files/directories that contain “magic” somewhere in their name (B)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*.txt </a:t>
            </a:r>
            <a:r>
              <a:rPr lang="en-US" dirty="0"/>
              <a:t>shows all files that have the extension “.txt” (C)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EC63976-7552-CD4C-0607-8C9401EA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III – The *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68606E-CC93-36CF-DA6D-08A1ADEB3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35" y="3771301"/>
            <a:ext cx="6468378" cy="40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204287A-3944-C506-F700-CA53B902E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35" y="4344324"/>
            <a:ext cx="9088118" cy="3620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2F05C2C-97B0-F87E-2AF2-8DA18355E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35" y="4889420"/>
            <a:ext cx="9707330" cy="112410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BA328DD-603A-62D0-A864-2FF6E24CF354}"/>
              </a:ext>
            </a:extLst>
          </p:cNvPr>
          <p:cNvSpPr txBox="1"/>
          <p:nvPr/>
        </p:nvSpPr>
        <p:spPr>
          <a:xfrm>
            <a:off x="599787" y="3740871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68B119-F158-6B3F-89F5-E1EAFCBE95D5}"/>
              </a:ext>
            </a:extLst>
          </p:cNvPr>
          <p:cNvSpPr txBox="1"/>
          <p:nvPr/>
        </p:nvSpPr>
        <p:spPr>
          <a:xfrm>
            <a:off x="599787" y="4294491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3D4C12-D262-146F-5EF2-4CE27E9A5874}"/>
              </a:ext>
            </a:extLst>
          </p:cNvPr>
          <p:cNvSpPr txBox="1"/>
          <p:nvPr/>
        </p:nvSpPr>
        <p:spPr>
          <a:xfrm>
            <a:off x="599787" y="522064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951437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E7123D8-2ABC-44B7-C91B-07CF4BD21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‘?’ represents </a:t>
            </a:r>
            <a:r>
              <a:rPr lang="en-US" b="1" dirty="0"/>
              <a:t>exactly</a:t>
            </a:r>
            <a:r>
              <a:rPr lang="en-US" dirty="0"/>
              <a:t> one symbol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grocery?.txt</a:t>
            </a:r>
            <a:r>
              <a:rPr lang="en-US" dirty="0"/>
              <a:t> shows all files that start with “grocery” than have exactly one other letter afterwards and end with the extension “.txt”</a:t>
            </a:r>
          </a:p>
          <a:p>
            <a:pPr marL="360363" lvl="1" indent="0">
              <a:buNone/>
            </a:pPr>
            <a:endParaRPr lang="en-US" dirty="0"/>
          </a:p>
          <a:p>
            <a:pPr marL="360363" lvl="1" indent="0">
              <a:buNone/>
            </a:pPr>
            <a:endParaRPr lang="en-US" dirty="0"/>
          </a:p>
          <a:p>
            <a:r>
              <a:rPr lang="de-DE" dirty="0"/>
              <a:t>As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limited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end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file</a:t>
            </a:r>
            <a:r>
              <a:rPr lang="de-DE" dirty="0"/>
              <a:t>/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3AB6A40-24DE-0F3B-5FA5-562FD2B6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IV – The 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86A3E0F-499A-D04C-28CD-F58227695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60" y="2622891"/>
            <a:ext cx="4153480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891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9C9437D-145A-A242-20E2-18F957719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combine wildcards in any forms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magic?*.txt </a:t>
            </a:r>
            <a:r>
              <a:rPr lang="en-US" dirty="0"/>
              <a:t>shows all files that start with “magic” and have at least one letter afterwards and end with the extension “.txt”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freely combine wildcards anywhere in the names of files/directories to achieve your goal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68DE1E1-D823-29D0-D81D-749B33D7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Wildcards V – </a:t>
            </a:r>
            <a:r>
              <a:rPr lang="de-DE" dirty="0" err="1"/>
              <a:t>Combinations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F53F15D-E2BC-13C4-82A0-0B9984184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943" y="2643050"/>
            <a:ext cx="5468113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35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7FDF68C-3220-B27E-A82C-F13AFA96F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wildcards in combination with ls to display the following things in your terminal:</a:t>
            </a:r>
          </a:p>
          <a:p>
            <a:pPr lvl="1"/>
            <a:r>
              <a:rPr lang="en-US" dirty="0"/>
              <a:t>all .</a:t>
            </a:r>
            <a:r>
              <a:rPr lang="en-US" dirty="0" err="1"/>
              <a:t>gb</a:t>
            </a:r>
            <a:r>
              <a:rPr lang="en-US" dirty="0"/>
              <a:t> files in Alignments</a:t>
            </a:r>
          </a:p>
          <a:p>
            <a:pPr lvl="1"/>
            <a:r>
              <a:rPr lang="en-US" dirty="0"/>
              <a:t>all .txt files in Linux</a:t>
            </a:r>
          </a:p>
          <a:p>
            <a:pPr lvl="1"/>
            <a:r>
              <a:rPr lang="en-US" dirty="0"/>
              <a:t>all files that contain _</a:t>
            </a:r>
            <a:r>
              <a:rPr lang="en-US" dirty="0" err="1"/>
              <a:t>dbs</a:t>
            </a:r>
            <a:r>
              <a:rPr lang="en-US" dirty="0"/>
              <a:t> in their name in Databases</a:t>
            </a:r>
          </a:p>
          <a:p>
            <a:pPr lvl="1"/>
            <a:r>
              <a:rPr lang="en-US" dirty="0"/>
              <a:t>all files that start with Label in GUIs</a:t>
            </a:r>
          </a:p>
          <a:p>
            <a:pPr lvl="1"/>
            <a:r>
              <a:rPr lang="en-US" dirty="0"/>
              <a:t>all .</a:t>
            </a:r>
            <a:r>
              <a:rPr lang="en-US" dirty="0" err="1"/>
              <a:t>py</a:t>
            </a:r>
            <a:r>
              <a:rPr lang="en-US" dirty="0"/>
              <a:t> files in Biopython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14D0B1-868C-5B40-7ADE-650455E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07: First Wildcards</a:t>
            </a:r>
          </a:p>
        </p:txBody>
      </p:sp>
    </p:spTree>
    <p:extLst>
      <p:ext uri="{BB962C8B-B14F-4D97-AF65-F5344CB8AC3E}">
        <p14:creationId xmlns:p14="http://schemas.microsoft.com/office/powerpoint/2010/main" val="16213570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B56F67-5839-E350-B48C-65E42C5C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Paths</a:t>
            </a:r>
            <a:r>
              <a:rPr lang="de-DE" dirty="0"/>
              <a:t> in Linux</a:t>
            </a:r>
          </a:p>
        </p:txBody>
      </p:sp>
    </p:spTree>
    <p:extLst>
      <p:ext uri="{BB962C8B-B14F-4D97-AF65-F5344CB8AC3E}">
        <p14:creationId xmlns:p14="http://schemas.microsoft.com/office/powerpoint/2010/main" val="941221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2F3343E-EBBA-7160-CFC2-E4BCF1275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path</a:t>
            </a:r>
            <a:r>
              <a:rPr lang="de-DE" dirty="0"/>
              <a:t> in Linux </a:t>
            </a:r>
            <a:r>
              <a:rPr lang="de-DE" dirty="0" err="1"/>
              <a:t>refers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en-US" dirty="0"/>
              <a:t>a file's or directory's address on the filesystem </a:t>
            </a:r>
          </a:p>
          <a:p>
            <a:pPr lvl="1"/>
            <a:r>
              <a:rPr lang="en-US" dirty="0"/>
              <a:t>i.e., the hierarchy of directories and files that is used to organize information stored on a computer</a:t>
            </a:r>
          </a:p>
          <a:p>
            <a:r>
              <a:rPr lang="en-US" dirty="0"/>
              <a:t>There are two types of paths:</a:t>
            </a:r>
          </a:p>
          <a:p>
            <a:pPr lvl="1"/>
            <a:r>
              <a:rPr lang="en-US" dirty="0"/>
              <a:t>absolute paths</a:t>
            </a:r>
          </a:p>
          <a:p>
            <a:pPr lvl="1"/>
            <a:r>
              <a:rPr lang="en-US" dirty="0"/>
              <a:t>relative paths</a:t>
            </a:r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64E74FD-8A41-6A85-C4BB-C90175A9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Paths</a:t>
            </a:r>
            <a:r>
              <a:rPr lang="de-DE" dirty="0"/>
              <a:t> I – </a:t>
            </a:r>
            <a:r>
              <a:rPr lang="de-DE" dirty="0" err="1"/>
              <a:t>Defintion</a:t>
            </a:r>
            <a:r>
              <a:rPr lang="de-DE" dirty="0"/>
              <a:t> [2]</a:t>
            </a:r>
          </a:p>
        </p:txBody>
      </p:sp>
    </p:spTree>
    <p:extLst>
      <p:ext uri="{BB962C8B-B14F-4D97-AF65-F5344CB8AC3E}">
        <p14:creationId xmlns:p14="http://schemas.microsoft.com/office/powerpoint/2010/main" val="8180786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D4804-C032-58FF-0C2F-B2EAAADB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Paths</a:t>
            </a:r>
            <a:r>
              <a:rPr lang="de-DE" dirty="0"/>
              <a:t> II – Absolute </a:t>
            </a:r>
            <a:r>
              <a:rPr lang="de-DE" dirty="0" err="1"/>
              <a:t>paths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F66ADA-7FE2-DBA7-4F62-0E23C25DA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692696"/>
            <a:ext cx="6779887" cy="5616624"/>
          </a:xfrm>
        </p:spPr>
        <p:txBody>
          <a:bodyPr/>
          <a:lstStyle/>
          <a:p>
            <a:r>
              <a:rPr lang="en-US" dirty="0"/>
              <a:t>A directory argument starting with “/” explicitly spells out a pathname – specifying an absolute or full path</a:t>
            </a:r>
          </a:p>
          <a:p>
            <a:endParaRPr lang="en-US" dirty="0"/>
          </a:p>
          <a:p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/Linux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/Linux/2012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/Linux/2014/Jan/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8A6B73-5632-9696-5CB4-6513BDF84F70}"/>
              </a:ext>
            </a:extLst>
          </p:cNvPr>
          <p:cNvSpPr txBox="1"/>
          <p:nvPr/>
        </p:nvSpPr>
        <p:spPr>
          <a:xfrm>
            <a:off x="8716767" y="2588171"/>
            <a:ext cx="6783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D10F240-1D74-C0C9-64D4-E3FDC151A145}"/>
              </a:ext>
            </a:extLst>
          </p:cNvPr>
          <p:cNvSpPr txBox="1"/>
          <p:nvPr/>
        </p:nvSpPr>
        <p:spPr>
          <a:xfrm>
            <a:off x="6878410" y="3672702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2F9DFA1-5F58-8BBD-461C-B9DED8EEA802}"/>
              </a:ext>
            </a:extLst>
          </p:cNvPr>
          <p:cNvSpPr txBox="1"/>
          <p:nvPr/>
        </p:nvSpPr>
        <p:spPr>
          <a:xfrm>
            <a:off x="8729590" y="3672702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545E2A1-CFCE-41BD-6F4F-A84FF982075E}"/>
              </a:ext>
            </a:extLst>
          </p:cNvPr>
          <p:cNvSpPr txBox="1"/>
          <p:nvPr/>
        </p:nvSpPr>
        <p:spPr>
          <a:xfrm>
            <a:off x="9871593" y="3672702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FA21CBD-8E3C-58B1-914A-5A62234F9D4A}"/>
              </a:ext>
            </a:extLst>
          </p:cNvPr>
          <p:cNvSpPr txBox="1"/>
          <p:nvPr/>
        </p:nvSpPr>
        <p:spPr>
          <a:xfrm>
            <a:off x="9395158" y="4572567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44CE014-7292-C5E1-9D0E-719149110A3C}"/>
              </a:ext>
            </a:extLst>
          </p:cNvPr>
          <p:cNvSpPr txBox="1"/>
          <p:nvPr/>
        </p:nvSpPr>
        <p:spPr>
          <a:xfrm>
            <a:off x="9329980" y="5550209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8176C3C-6777-D0F2-3873-E6B3CB2A7361}"/>
              </a:ext>
            </a:extLst>
          </p:cNvPr>
          <p:cNvSpPr txBox="1"/>
          <p:nvPr/>
        </p:nvSpPr>
        <p:spPr>
          <a:xfrm>
            <a:off x="10690558" y="4572567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9256B35-4935-5F74-5191-A3F9A93AA62A}"/>
              </a:ext>
            </a:extLst>
          </p:cNvPr>
          <p:cNvSpPr txBox="1"/>
          <p:nvPr/>
        </p:nvSpPr>
        <p:spPr>
          <a:xfrm>
            <a:off x="10644430" y="5550209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A972FEB1-B515-61E9-9FD9-099C7A7A951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7942195" y="2558933"/>
            <a:ext cx="715199" cy="151233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56C2D98C-48D6-2B24-F389-D2DEAD415751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8698364" y="3315102"/>
            <a:ext cx="715199" cy="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CB699CD4-48B6-11F1-3729-BDF4EA16DA4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9269365" y="2744101"/>
            <a:ext cx="715199" cy="114200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3218C731-E02A-7F6C-427F-5B350728F15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10310073" y="3929925"/>
            <a:ext cx="530533" cy="75474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0CE064E1-1809-DBE3-086E-065199DC8C7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9654006" y="4028607"/>
            <a:ext cx="530533" cy="55738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B4043D0-81AB-874C-8EA5-34E4476AF39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9640578" y="4941899"/>
            <a:ext cx="0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5EDA3FC-337E-8281-D389-A9E8693E47F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952714" y="4941899"/>
            <a:ext cx="2314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93D48EC2-20A0-2181-5626-DD5BCB821CB1}"/>
              </a:ext>
            </a:extLst>
          </p:cNvPr>
          <p:cNvSpPr txBox="1"/>
          <p:nvPr/>
        </p:nvSpPr>
        <p:spPr>
          <a:xfrm>
            <a:off x="8477290" y="1662111"/>
            <a:ext cx="114967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username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4466AFA-21C1-5C6E-2861-19B6F6171851}"/>
              </a:ext>
            </a:extLst>
          </p:cNvPr>
          <p:cNvSpPr txBox="1"/>
          <p:nvPr/>
        </p:nvSpPr>
        <p:spPr>
          <a:xfrm>
            <a:off x="8689689" y="710938"/>
            <a:ext cx="72808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home</a:t>
            </a:r>
            <a:endParaRPr lang="de-DE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C5AE352-0856-604E-8BE5-070E95700454}"/>
              </a:ext>
            </a:extLst>
          </p:cNvPr>
          <p:cNvCxnSpPr>
            <a:cxnSpLocks/>
            <a:stCxn id="20" idx="2"/>
            <a:endCxn id="5" idx="0"/>
          </p:cNvCxnSpPr>
          <p:nvPr/>
        </p:nvCxnSpPr>
        <p:spPr>
          <a:xfrm>
            <a:off x="9052127" y="2031443"/>
            <a:ext cx="3836" cy="5567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F2346A20-D428-4F2F-6AEC-03970A8C31B4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 flipH="1">
            <a:off x="9052127" y="1080270"/>
            <a:ext cx="1604" cy="5818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779C8B-DF85-C2FE-21C9-258DC9ADB2C2}"/>
              </a:ext>
            </a:extLst>
          </p:cNvPr>
          <p:cNvGrpSpPr/>
          <p:nvPr/>
        </p:nvGrpSpPr>
        <p:grpSpPr>
          <a:xfrm>
            <a:off x="4898255" y="5530294"/>
            <a:ext cx="3185432" cy="519351"/>
            <a:chOff x="6057554" y="5592365"/>
            <a:chExt cx="3185432" cy="519351"/>
          </a:xfrm>
        </p:grpSpPr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27221B6-DB55-B428-959A-9D2803E3B7EC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3137483-6D6C-002A-E66C-7E79D518A6E6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EC6083ED-01E7-0567-C3ED-DD818ACD8A0D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1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4C4B1F-985C-E5FF-3E3F-2BFDEC33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Paths</a:t>
            </a:r>
            <a:r>
              <a:rPr lang="de-DE" dirty="0"/>
              <a:t> III – Relative </a:t>
            </a:r>
            <a:r>
              <a:rPr lang="de-DE" dirty="0" err="1"/>
              <a:t>paths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79279A-8C9F-041C-386E-60609E880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leading “/” means you are specifying a path that is relative to the current working directory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Linux/2012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Linux/2014/Jan/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9A44C7A-04F1-CB7F-F613-9DFEABB1B547}"/>
              </a:ext>
            </a:extLst>
          </p:cNvPr>
          <p:cNvSpPr txBox="1"/>
          <p:nvPr/>
        </p:nvSpPr>
        <p:spPr>
          <a:xfrm>
            <a:off x="8716767" y="2588171"/>
            <a:ext cx="6783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Linux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4C02184-FB8C-FA1D-5E3C-CB38B009BB48}"/>
              </a:ext>
            </a:extLst>
          </p:cNvPr>
          <p:cNvSpPr txBox="1"/>
          <p:nvPr/>
        </p:nvSpPr>
        <p:spPr>
          <a:xfrm>
            <a:off x="6878410" y="3672702"/>
            <a:ext cx="133042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Mydirectory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3C85309-1D30-6615-683D-1DB37A124460}"/>
              </a:ext>
            </a:extLst>
          </p:cNvPr>
          <p:cNvSpPr txBox="1"/>
          <p:nvPr/>
        </p:nvSpPr>
        <p:spPr>
          <a:xfrm>
            <a:off x="8729590" y="3672702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2012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2B49849-0DD7-4882-E3EE-11B4B0295540}"/>
              </a:ext>
            </a:extLst>
          </p:cNvPr>
          <p:cNvSpPr txBox="1"/>
          <p:nvPr/>
        </p:nvSpPr>
        <p:spPr>
          <a:xfrm>
            <a:off x="9871593" y="3672702"/>
            <a:ext cx="6527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2014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922F1AF-0245-9422-00CB-D360485E4613}"/>
              </a:ext>
            </a:extLst>
          </p:cNvPr>
          <p:cNvSpPr txBox="1"/>
          <p:nvPr/>
        </p:nvSpPr>
        <p:spPr>
          <a:xfrm>
            <a:off x="9395158" y="4572567"/>
            <a:ext cx="49084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Jan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F550C35-0469-2A84-214C-D2097373A3A2}"/>
              </a:ext>
            </a:extLst>
          </p:cNvPr>
          <p:cNvSpPr txBox="1"/>
          <p:nvPr/>
        </p:nvSpPr>
        <p:spPr>
          <a:xfrm>
            <a:off x="9329980" y="5550209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5F90C81-EAE6-6DF0-5C98-F1CA0E56CECB}"/>
              </a:ext>
            </a:extLst>
          </p:cNvPr>
          <p:cNvSpPr txBox="1"/>
          <p:nvPr/>
        </p:nvSpPr>
        <p:spPr>
          <a:xfrm>
            <a:off x="10690558" y="4572567"/>
            <a:ext cx="524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Feb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C9B937C-60C8-65CE-E6ED-94327852C920}"/>
              </a:ext>
            </a:extLst>
          </p:cNvPr>
          <p:cNvSpPr txBox="1"/>
          <p:nvPr/>
        </p:nvSpPr>
        <p:spPr>
          <a:xfrm>
            <a:off x="10644430" y="5550209"/>
            <a:ext cx="6211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stats</a:t>
            </a:r>
            <a:endParaRPr lang="de-DE" dirty="0"/>
          </a:p>
        </p:txBody>
      </p: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93FF1803-0FB3-11A5-285A-AC2054D7F1F7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rot="5400000">
            <a:off x="7942195" y="2558933"/>
            <a:ext cx="715199" cy="151233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C68C6A93-AB13-FF12-D702-7EAC6345840E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rot="5400000">
            <a:off x="8698364" y="3315102"/>
            <a:ext cx="715199" cy="1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CCDAF6F7-1A1A-C3D4-25D1-B9B909FF7103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 rot="16200000" flipH="1">
            <a:off x="9269365" y="2744101"/>
            <a:ext cx="715199" cy="114200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55A4769E-65B3-EA3E-7077-B1403CCEA0D4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rot="16200000" flipH="1">
            <a:off x="10310073" y="3929925"/>
            <a:ext cx="530533" cy="754749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Verbinder: gewinkelt 35">
            <a:extLst>
              <a:ext uri="{FF2B5EF4-FFF2-40B4-BE49-F238E27FC236}">
                <a16:creationId xmlns:a16="http://schemas.microsoft.com/office/drawing/2014/main" id="{54838216-C0F6-42BF-2977-29B644035EE1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9654006" y="4028607"/>
            <a:ext cx="530533" cy="557387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A3891AE0-CC97-5375-2881-C005FEE2A032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9640578" y="4941899"/>
            <a:ext cx="0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DD46EBF-5BA0-387E-9366-F17C71B25CF0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10952714" y="4941899"/>
            <a:ext cx="2314" cy="60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DED411DA-C2A0-EB00-D9FC-11A6C144DFA3}"/>
              </a:ext>
            </a:extLst>
          </p:cNvPr>
          <p:cNvSpPr txBox="1"/>
          <p:nvPr/>
        </p:nvSpPr>
        <p:spPr>
          <a:xfrm>
            <a:off x="8477290" y="1662111"/>
            <a:ext cx="114967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username</a:t>
            </a:r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34E5A7A-01C7-644D-528B-7B755DF7C9C5}"/>
              </a:ext>
            </a:extLst>
          </p:cNvPr>
          <p:cNvSpPr txBox="1"/>
          <p:nvPr/>
        </p:nvSpPr>
        <p:spPr>
          <a:xfrm>
            <a:off x="8689689" y="710938"/>
            <a:ext cx="72808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home</a:t>
            </a:r>
            <a:endParaRPr lang="de-DE" dirty="0"/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F5B704F-FACB-84B7-9194-BC64043E072D}"/>
              </a:ext>
            </a:extLst>
          </p:cNvPr>
          <p:cNvCxnSpPr>
            <a:cxnSpLocks/>
            <a:stCxn id="39" idx="2"/>
            <a:endCxn id="24" idx="0"/>
          </p:cNvCxnSpPr>
          <p:nvPr/>
        </p:nvCxnSpPr>
        <p:spPr>
          <a:xfrm>
            <a:off x="9052127" y="2031443"/>
            <a:ext cx="3836" cy="5567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B205F4F-A003-EF7F-D848-9AC79CCC7B86}"/>
              </a:ext>
            </a:extLst>
          </p:cNvPr>
          <p:cNvCxnSpPr>
            <a:cxnSpLocks/>
            <a:stCxn id="40" idx="2"/>
            <a:endCxn id="39" idx="0"/>
          </p:cNvCxnSpPr>
          <p:nvPr/>
        </p:nvCxnSpPr>
        <p:spPr>
          <a:xfrm flipH="1">
            <a:off x="9052127" y="1080270"/>
            <a:ext cx="1604" cy="5818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2B45CD1-2C03-4CA2-1F4B-0D7803403698}"/>
              </a:ext>
            </a:extLst>
          </p:cNvPr>
          <p:cNvGrpSpPr/>
          <p:nvPr/>
        </p:nvGrpSpPr>
        <p:grpSpPr>
          <a:xfrm>
            <a:off x="4898255" y="5530294"/>
            <a:ext cx="3185432" cy="519351"/>
            <a:chOff x="6057554" y="5592365"/>
            <a:chExt cx="3185432" cy="519351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49E288E-CEB5-E929-BF33-559C1831268D}"/>
                </a:ext>
              </a:extLst>
            </p:cNvPr>
            <p:cNvSpPr txBox="1"/>
            <p:nvPr/>
          </p:nvSpPr>
          <p:spPr>
            <a:xfrm>
              <a:off x="7060603" y="5667375"/>
              <a:ext cx="1143000" cy="3693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dirty="0"/>
                <a:t>Directory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A98DF16-3AC1-F880-DC68-658A0FDBD93F}"/>
                </a:ext>
              </a:extLst>
            </p:cNvPr>
            <p:cNvSpPr txBox="1"/>
            <p:nvPr/>
          </p:nvSpPr>
          <p:spPr>
            <a:xfrm>
              <a:off x="8395818" y="5592365"/>
              <a:ext cx="847168" cy="519351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file</a:t>
              </a:r>
              <a:endParaRPr lang="de-DE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4520F6B-5F14-5823-9525-7548C29F696A}"/>
                </a:ext>
              </a:extLst>
            </p:cNvPr>
            <p:cNvSpPr txBox="1"/>
            <p:nvPr/>
          </p:nvSpPr>
          <p:spPr>
            <a:xfrm>
              <a:off x="6057554" y="5667375"/>
              <a:ext cx="92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Legend: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2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1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0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4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6" grpId="0" animBg="1"/>
      <p:bldP spid="26" grpId="1" animBg="1"/>
      <p:bldP spid="29" grpId="0" animBg="1"/>
      <p:bldP spid="39" grpId="0" animBg="1"/>
      <p:bldP spid="39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39AA3-0E8E-8460-E593-74E11F6F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</a:t>
            </a:r>
          </a:p>
        </p:txBody>
      </p:sp>
    </p:spTree>
    <p:extLst>
      <p:ext uri="{BB962C8B-B14F-4D97-AF65-F5344CB8AC3E}">
        <p14:creationId xmlns:p14="http://schemas.microsoft.com/office/powerpoint/2010/main" val="26679518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EC38382-5510-0C6D-76A5-2028AD34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extensive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, </a:t>
            </a: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stand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files/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files/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manipulated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time frame</a:t>
            </a:r>
          </a:p>
          <a:p>
            <a:r>
              <a:rPr lang="de-DE" dirty="0"/>
              <a:t>In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find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various</a:t>
            </a:r>
            <a:r>
              <a:rPr lang="de-DE" dirty="0"/>
              <a:t> different </a:t>
            </a:r>
            <a:r>
              <a:rPr lang="de-DE" dirty="0" err="1"/>
              <a:t>criteria</a:t>
            </a:r>
            <a:endParaRPr lang="de-DE" dirty="0"/>
          </a:p>
          <a:p>
            <a:r>
              <a:rPr lang="de-DE" dirty="0"/>
              <a:t>General Syntax: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[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path_to_search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] [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] [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] …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3F548BA-EFBC-CF01-EA52-77E4130B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I – Basics</a:t>
            </a:r>
          </a:p>
        </p:txBody>
      </p:sp>
    </p:spTree>
    <p:extLst>
      <p:ext uri="{BB962C8B-B14F-4D97-AF65-F5344CB8AC3E}">
        <p14:creationId xmlns:p14="http://schemas.microsoft.com/office/powerpoint/2010/main" val="22786556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8063FE3-614B-A90D-60E4-369C6FC98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command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find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has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access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a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lot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different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options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refer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different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criteria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your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Here I will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show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you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five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them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I find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personally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very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useful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files/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according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name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files, e.g.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txt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-files: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-name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files/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according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name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in a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case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insensitive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matter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iname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files/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by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type (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f:file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, d:directory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etc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):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-type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  <a:sym typeface="Wingdings" panose="05000000000000000000" pitchFamily="2" charset="2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F90225D-BBDD-4DCD-A297-868E1270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II – Options I</a:t>
            </a:r>
          </a:p>
        </p:txBody>
      </p:sp>
    </p:spTree>
    <p:extLst>
      <p:ext uri="{BB962C8B-B14F-4D97-AF65-F5344CB8AC3E}">
        <p14:creationId xmlns:p14="http://schemas.microsoft.com/office/powerpoint/2010/main" val="16522072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C6EF9D3-33FB-0C79-8DE2-CFD99A1D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files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/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/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exactly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/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less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minutes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ago</a:t>
            </a:r>
            <a:endParaRPr lang="de-DE"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mmin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Searching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files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/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/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exactly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/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less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n*24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hours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mtime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C9D96F-158F-CD66-5608-25C81D1B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III – Options II</a:t>
            </a:r>
          </a:p>
        </p:txBody>
      </p:sp>
    </p:spTree>
    <p:extLst>
      <p:ext uri="{BB962C8B-B14F-4D97-AF65-F5344CB8AC3E}">
        <p14:creationId xmlns:p14="http://schemas.microsoft.com/office/powerpoint/2010/main" val="42801098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1B602D-EA03-E358-8AC8-87E94E02E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associated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criterium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possible</a:t>
            </a:r>
          </a:p>
          <a:p>
            <a:r>
              <a:rPr lang="de-DE" dirty="0"/>
              <a:t>The </a:t>
            </a:r>
            <a:r>
              <a:rPr lang="de-DE" dirty="0" err="1"/>
              <a:t>options</a:t>
            </a:r>
            <a:r>
              <a:rPr lang="de-DE" dirty="0"/>
              <a:t> –</a:t>
            </a:r>
            <a:r>
              <a:rPr lang="de-DE" dirty="0" err="1"/>
              <a:t>name</a:t>
            </a:r>
            <a:r>
              <a:rPr lang="de-DE" dirty="0"/>
              <a:t> and –</a:t>
            </a:r>
            <a:r>
              <a:rPr lang="de-DE" dirty="0" err="1"/>
              <a:t>iname</a:t>
            </a:r>
            <a:r>
              <a:rPr lang="de-DE" dirty="0"/>
              <a:t> </a:t>
            </a:r>
            <a:r>
              <a:rPr lang="de-DE" dirty="0" err="1"/>
              <a:t>accept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 and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-name *.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r>
              <a:rPr lang="de-DE" dirty="0"/>
              <a:t>The </a:t>
            </a:r>
            <a:r>
              <a:rPr lang="de-DE" dirty="0" err="1"/>
              <a:t>option</a:t>
            </a:r>
            <a:r>
              <a:rPr lang="de-DE" dirty="0"/>
              <a:t> – type </a:t>
            </a:r>
            <a:r>
              <a:rPr lang="de-DE" dirty="0" err="1"/>
              <a:t>accepts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letter</a:t>
            </a:r>
            <a:r>
              <a:rPr lang="de-DE" dirty="0"/>
              <a:t> </a:t>
            </a:r>
            <a:r>
              <a:rPr lang="de-DE" dirty="0" err="1"/>
              <a:t>abbreviations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on a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f and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d: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-type f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-type d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73ADDD-CCD0-8FD9-3C46-C3481E1A8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IV – Options III</a:t>
            </a:r>
          </a:p>
        </p:txBody>
      </p:sp>
    </p:spTree>
    <p:extLst>
      <p:ext uri="{BB962C8B-B14F-4D97-AF65-F5344CB8AC3E}">
        <p14:creationId xmlns:p14="http://schemas.microsoft.com/office/powerpoint/2010/main" val="35005227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0C9F6EA-5A9E-9AA6-E03D-B9C155E4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options</a:t>
            </a:r>
            <a:r>
              <a:rPr lang="de-DE" dirty="0"/>
              <a:t> –</a:t>
            </a:r>
            <a:r>
              <a:rPr lang="de-DE" dirty="0" err="1"/>
              <a:t>mmin</a:t>
            </a:r>
            <a:r>
              <a:rPr lang="de-DE" dirty="0"/>
              <a:t> and –</a:t>
            </a:r>
            <a:r>
              <a:rPr lang="de-DE" dirty="0" err="1"/>
              <a:t>mtime</a:t>
            </a:r>
            <a:r>
              <a:rPr lang="de-DE" dirty="0"/>
              <a:t> </a:t>
            </a:r>
            <a:r>
              <a:rPr lang="de-DE" dirty="0" err="1"/>
              <a:t>accept</a:t>
            </a:r>
            <a:r>
              <a:rPr lang="de-DE" dirty="0"/>
              <a:t>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</a:p>
          <a:p>
            <a:r>
              <a:rPr lang="de-DE" dirty="0" err="1"/>
              <a:t>Using</a:t>
            </a:r>
            <a:r>
              <a:rPr lang="de-DE" dirty="0"/>
              <a:t> a negative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files/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modified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n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ago</a:t>
            </a:r>
            <a:r>
              <a:rPr lang="de-DE" dirty="0"/>
              <a:t>, e.g.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90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-90</a:t>
            </a:r>
          </a:p>
          <a:p>
            <a:r>
              <a:rPr lang="de-DE" dirty="0" err="1"/>
              <a:t>Using</a:t>
            </a:r>
            <a:r>
              <a:rPr lang="de-DE" dirty="0"/>
              <a:t> a positive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files/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modified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n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ago</a:t>
            </a:r>
            <a:r>
              <a:rPr lang="de-DE" dirty="0"/>
              <a:t>, e.g.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90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+90</a:t>
            </a:r>
          </a:p>
          <a:p>
            <a:r>
              <a:rPr lang="de-DE" dirty="0" err="1"/>
              <a:t>Using</a:t>
            </a:r>
            <a:r>
              <a:rPr lang="de-DE" dirty="0"/>
              <a:t> just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files/</a:t>
            </a:r>
            <a:r>
              <a:rPr lang="de-DE" dirty="0" err="1"/>
              <a:t>directories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modified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n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ago</a:t>
            </a:r>
            <a:r>
              <a:rPr lang="de-DE" dirty="0"/>
              <a:t>, e.g. </a:t>
            </a:r>
            <a:r>
              <a:rPr lang="de-DE" dirty="0" err="1"/>
              <a:t>exactly</a:t>
            </a:r>
            <a:r>
              <a:rPr lang="de-DE" dirty="0"/>
              <a:t> 90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90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8E0BBF-1BFD-DB30-9F6B-B3DD4A9F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V – Options IV</a:t>
            </a:r>
          </a:p>
        </p:txBody>
      </p:sp>
    </p:spTree>
    <p:extLst>
      <p:ext uri="{BB962C8B-B14F-4D97-AF65-F5344CB8AC3E}">
        <p14:creationId xmlns:p14="http://schemas.microsoft.com/office/powerpoint/2010/main" val="23869842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ED03F6E-BB91-E11D-3C4E-B44847BB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Alongside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also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find</a:t>
            </a:r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relative and absolute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Linux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find Linux [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hand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abbreviation</a:t>
            </a:r>
            <a:r>
              <a:rPr lang="de-DE" dirty="0"/>
              <a:t> „.“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find . [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AD97D46-8437-7E05-7DBD-CA3CF620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VI – Search </a:t>
            </a:r>
            <a:r>
              <a:rPr lang="de-DE" dirty="0" err="1"/>
              <a:t>path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84674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06384B0-8559-8E2F-2F58-2CD85565C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Search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txt</a:t>
            </a:r>
            <a:r>
              <a:rPr lang="de-DE" dirty="0"/>
              <a:t>-files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.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“*.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de-DE" dirty="0"/>
              <a:t>Search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Linux </a:t>
            </a:r>
            <a:r>
              <a:rPr lang="de-DE" dirty="0" err="1"/>
              <a:t>directory</a:t>
            </a:r>
            <a:endParaRPr lang="de-DE"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–type f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exactly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90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minutes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90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less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90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minutes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-90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90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minutes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+90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ECDAF64-232B-4AFE-BA07-0E3BD0F1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VII – </a:t>
            </a:r>
            <a:r>
              <a:rPr lang="de-DE" dirty="0" err="1"/>
              <a:t>Examples</a:t>
            </a:r>
            <a:r>
              <a:rPr lang="de-DE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1515013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654C3EC-F08B-CE50-64AA-22623E55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exactly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2*24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hours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mtime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less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2*24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hours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mtime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-2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Search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files</a:t>
            </a:r>
            <a:r>
              <a:rPr lang="de-DE" dirty="0"/>
              <a:t>/</a:t>
            </a:r>
            <a:r>
              <a:rPr lang="de-DE" dirty="0" err="1"/>
              <a:t>directories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modified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2*24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hours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ago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find Linux –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mtime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+2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3DB668A-2AC0-8B91-C915-2A80B160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VIII – </a:t>
            </a:r>
            <a:r>
              <a:rPr lang="de-DE" dirty="0" err="1"/>
              <a:t>Examples</a:t>
            </a:r>
            <a:r>
              <a:rPr lang="de-DE" dirty="0"/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9417813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4EB88E2-8149-75A7-44AD-8D8442506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 dirty="0"/>
              <a:t> to search for things in your Linux directory</a:t>
            </a:r>
          </a:p>
          <a:p>
            <a:r>
              <a:rPr lang="en-US" dirty="0"/>
              <a:t>Search for the following:</a:t>
            </a:r>
            <a:endParaRPr lang="de-DE" dirty="0">
              <a:solidFill>
                <a:srgbClr val="FF0000"/>
              </a:solidFill>
            </a:endParaRPr>
          </a:p>
          <a:p>
            <a:pPr lvl="1"/>
            <a:r>
              <a:rPr lang="de-DE" dirty="0">
                <a:solidFill>
                  <a:schemeClr val="tx1"/>
                </a:solidFill>
              </a:rPr>
              <a:t>All </a:t>
            </a:r>
            <a:r>
              <a:rPr lang="de-DE" dirty="0" err="1">
                <a:solidFill>
                  <a:schemeClr val="tx1"/>
                </a:solidFill>
              </a:rPr>
              <a:t>directories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that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were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modified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more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than</a:t>
            </a:r>
            <a:r>
              <a:rPr lang="de-DE" dirty="0">
                <a:solidFill>
                  <a:schemeClr val="tx1"/>
                </a:solidFill>
              </a:rPr>
              <a:t> 120 </a:t>
            </a:r>
            <a:r>
              <a:rPr lang="de-DE" dirty="0" err="1">
                <a:solidFill>
                  <a:schemeClr val="tx1"/>
                </a:solidFill>
              </a:rPr>
              <a:t>minutes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ago</a:t>
            </a:r>
            <a:endParaRPr lang="de-DE" dirty="0">
              <a:solidFill>
                <a:schemeClr val="tx1"/>
              </a:solidFill>
            </a:endParaRPr>
          </a:p>
          <a:p>
            <a:pPr lvl="1"/>
            <a:r>
              <a:rPr lang="de-DE" dirty="0">
                <a:solidFill>
                  <a:schemeClr val="tx1"/>
                </a:solidFill>
              </a:rPr>
              <a:t>All files </a:t>
            </a:r>
            <a:r>
              <a:rPr lang="de-DE" dirty="0" err="1">
                <a:solidFill>
                  <a:schemeClr val="tx1"/>
                </a:solidFill>
              </a:rPr>
              <a:t>containing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word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magic</a:t>
            </a:r>
            <a:endParaRPr lang="de-DE" dirty="0">
              <a:solidFill>
                <a:schemeClr val="tx1"/>
              </a:solidFill>
            </a:endParaRPr>
          </a:p>
          <a:p>
            <a:pPr lvl="1"/>
            <a:r>
              <a:rPr lang="de-DE" dirty="0">
                <a:solidFill>
                  <a:schemeClr val="tx1"/>
                </a:solidFill>
              </a:rPr>
              <a:t>All files </a:t>
            </a:r>
            <a:r>
              <a:rPr lang="de-DE" dirty="0" err="1">
                <a:solidFill>
                  <a:schemeClr val="tx1"/>
                </a:solidFill>
              </a:rPr>
              <a:t>containing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word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magic</a:t>
            </a:r>
            <a:r>
              <a:rPr lang="de-DE" dirty="0">
                <a:solidFill>
                  <a:schemeClr val="tx1"/>
                </a:solidFill>
              </a:rPr>
              <a:t> in </a:t>
            </a:r>
            <a:r>
              <a:rPr lang="de-DE" dirty="0" err="1">
                <a:solidFill>
                  <a:schemeClr val="tx1"/>
                </a:solidFill>
              </a:rPr>
              <a:t>case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insensitive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manner</a:t>
            </a:r>
            <a:endParaRPr lang="de-DE" dirty="0">
              <a:solidFill>
                <a:schemeClr val="tx1"/>
              </a:solidFill>
            </a:endParaRPr>
          </a:p>
          <a:p>
            <a:pPr lvl="1"/>
            <a:r>
              <a:rPr lang="en-US" dirty="0"/>
              <a:t>All files that were modified during the last 4 days</a:t>
            </a:r>
          </a:p>
          <a:p>
            <a:pPr lvl="1"/>
            <a:r>
              <a:rPr lang="en-US" dirty="0"/>
              <a:t>Everything that was modified during the last 240 minutes</a:t>
            </a:r>
          </a:p>
          <a:p>
            <a:pPr lvl="1"/>
            <a:r>
              <a:rPr lang="en-US" dirty="0"/>
              <a:t>Everything that contains the word magic in case insensitive manner</a:t>
            </a:r>
          </a:p>
          <a:p>
            <a:pPr lvl="1"/>
            <a:endParaRPr lang="en-US" dirty="0"/>
          </a:p>
          <a:p>
            <a:r>
              <a:rPr lang="en-US" dirty="0"/>
              <a:t>Optional Tasks:</a:t>
            </a:r>
          </a:p>
          <a:p>
            <a:pPr lvl="1"/>
            <a:r>
              <a:rPr lang="en-US" dirty="0"/>
              <a:t>All empty files</a:t>
            </a:r>
          </a:p>
          <a:p>
            <a:pPr lvl="1"/>
            <a:r>
              <a:rPr lang="en-US" dirty="0"/>
              <a:t>All files that were accessed less than 180 minutes ago</a:t>
            </a:r>
          </a:p>
          <a:p>
            <a:pPr lvl="1"/>
            <a:r>
              <a:rPr lang="en-US" dirty="0"/>
              <a:t>All files bigger than 50 bytes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0E80B5-7A24-6841-F647-B348E6E9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08: </a:t>
            </a:r>
            <a:r>
              <a:rPr lang="de-DE" dirty="0" err="1"/>
              <a:t>use</a:t>
            </a:r>
            <a:r>
              <a:rPr lang="de-DE" dirty="0"/>
              <a:t> find</a:t>
            </a:r>
          </a:p>
        </p:txBody>
      </p:sp>
    </p:spTree>
    <p:extLst>
      <p:ext uri="{BB962C8B-B14F-4D97-AF65-F5344CB8AC3E}">
        <p14:creationId xmlns:p14="http://schemas.microsoft.com/office/powerpoint/2010/main" val="8069147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8CAE21-3A5E-223F-BB93-AA88792F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4183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CAF578F-0CEA-4E86-BF66-6FF5D1D4D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wc</a:t>
            </a:r>
            <a:r>
              <a:rPr lang="en-US" dirty="0"/>
              <a:t> represents „word count“ and allows us to count how many lines, words and characters a specific file contains: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</a:t>
            </a:r>
          </a:p>
          <a:p>
            <a:r>
              <a:rPr lang="en-US" dirty="0"/>
              <a:t>This would produce the output 47 50 383 animals.txt and shows the number of lines, words and characters in the file animals.txt respectively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3FBECBA-FC1F-4934-8F3F-434B19CB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wc</a:t>
            </a:r>
            <a:r>
              <a:rPr lang="de-DE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33932927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DB70061-EE88-788C-A345-DC543261C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</a:t>
            </a:r>
            <a:r>
              <a:rPr lang="en-US" dirty="0" err="1"/>
              <a:t>wc</a:t>
            </a:r>
            <a:r>
              <a:rPr lang="en-US" dirty="0"/>
              <a:t> in combination with multiple files, for example by using a command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 magicboxes.txt</a:t>
            </a:r>
          </a:p>
          <a:p>
            <a:r>
              <a:rPr lang="de-DE" dirty="0"/>
              <a:t>This </a:t>
            </a:r>
            <a:r>
              <a:rPr lang="de-DE" dirty="0" err="1"/>
              <a:t>produces</a:t>
            </a:r>
            <a:r>
              <a:rPr lang="de-DE" dirty="0"/>
              <a:t> an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47  50 383 animals.txt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 6  19 129 magicboxes.txt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53  69 512 total</a:t>
            </a:r>
          </a:p>
          <a:p>
            <a:r>
              <a:rPr lang="de-DE" dirty="0"/>
              <a:t>As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not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wc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count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individually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also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a total,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wc</a:t>
            </a:r>
            <a:r>
              <a:rPr lang="de-DE" dirty="0"/>
              <a:t> on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7269CF4-EF16-7C42-6F49-205E098B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wc</a:t>
            </a:r>
            <a:r>
              <a:rPr lang="de-DE" dirty="0"/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1783642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405ABC1-E5BC-F163-EBB3-1984EA19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wc</a:t>
            </a:r>
            <a:r>
              <a:rPr lang="de-DE" dirty="0"/>
              <a:t> also </a:t>
            </a:r>
            <a:r>
              <a:rPr lang="de-DE" dirty="0" err="1"/>
              <a:t>works</a:t>
            </a:r>
            <a:r>
              <a:rPr lang="de-DE" dirty="0"/>
              <a:t>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*.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count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, </a:t>
            </a:r>
            <a:r>
              <a:rPr lang="de-DE" dirty="0" err="1"/>
              <a:t>words</a:t>
            </a:r>
            <a:r>
              <a:rPr lang="de-DE" dirty="0"/>
              <a:t> and </a:t>
            </a:r>
            <a:r>
              <a:rPr lang="de-DE" dirty="0" err="1"/>
              <a:t>characters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.</a:t>
            </a:r>
            <a:r>
              <a:rPr lang="de-DE" dirty="0" err="1"/>
              <a:t>txt</a:t>
            </a:r>
            <a:endParaRPr lang="de-DE" dirty="0"/>
          </a:p>
          <a:p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all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end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a total </a:t>
            </a:r>
            <a:r>
              <a:rPr lang="de-DE" dirty="0" err="1"/>
              <a:t>over</a:t>
            </a:r>
            <a:r>
              <a:rPr lang="de-DE" dirty="0"/>
              <a:t> all </a:t>
            </a:r>
            <a:r>
              <a:rPr lang="de-DE" dirty="0" err="1"/>
              <a:t>files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2BC06C-0863-87FA-9696-A317FFA4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wc</a:t>
            </a:r>
            <a:r>
              <a:rPr lang="de-DE" dirty="0"/>
              <a:t> III</a:t>
            </a:r>
          </a:p>
        </p:txBody>
      </p:sp>
    </p:spTree>
    <p:extLst>
      <p:ext uri="{BB962C8B-B14F-4D97-AF65-F5344CB8AC3E}">
        <p14:creationId xmlns:p14="http://schemas.microsoft.com/office/powerpoint/2010/main" val="36400431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4377A7B-EB6E-D4F3-F28F-2A08122F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help of options only one of the three values </a:t>
            </a:r>
            <a:r>
              <a:rPr lang="en-US" dirty="0" err="1"/>
              <a:t>wc</a:t>
            </a:r>
            <a:r>
              <a:rPr lang="en-US" dirty="0"/>
              <a:t> counts can be displayed: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–l animals.txt		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 	counts only lines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–w animals.txt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 		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 	counts only words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–c animals.txt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 		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  <a:sym typeface="Wingdings" panose="05000000000000000000" pitchFamily="2" charset="2"/>
              </a:rPr>
              <a:t> 	counts only characters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remaining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wc</a:t>
            </a:r>
            <a:endParaRPr lang="de-DE" dirty="0"/>
          </a:p>
          <a:p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you‘re</a:t>
            </a:r>
            <a:r>
              <a:rPr lang="de-DE" dirty="0"/>
              <a:t> still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on multiple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you</a:t>
            </a:r>
            <a:r>
              <a:rPr lang="de-DE" dirty="0"/>
              <a:t> will still </a:t>
            </a:r>
            <a:r>
              <a:rPr lang="de-DE" dirty="0" err="1"/>
              <a:t>get</a:t>
            </a:r>
            <a:r>
              <a:rPr lang="de-DE" dirty="0"/>
              <a:t> back a total </a:t>
            </a:r>
            <a:r>
              <a:rPr lang="de-DE" dirty="0" err="1"/>
              <a:t>over</a:t>
            </a:r>
            <a:r>
              <a:rPr lang="de-DE" dirty="0"/>
              <a:t> all </a:t>
            </a:r>
            <a:r>
              <a:rPr lang="de-DE" dirty="0" err="1"/>
              <a:t>files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D1364B1-BFF1-C3AF-8570-B12AD542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wc</a:t>
            </a:r>
            <a:r>
              <a:rPr lang="de-DE" dirty="0"/>
              <a:t> IV</a:t>
            </a:r>
          </a:p>
        </p:txBody>
      </p:sp>
    </p:spTree>
    <p:extLst>
      <p:ext uri="{BB962C8B-B14F-4D97-AF65-F5344CB8AC3E}">
        <p14:creationId xmlns:p14="http://schemas.microsoft.com/office/powerpoint/2010/main" val="19327005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8CB669-AD52-4779-9B6E-7C0E447C3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11521280" cy="650329"/>
          </a:xfrm>
        </p:spPr>
        <p:txBody>
          <a:bodyPr numCol="1"/>
          <a:lstStyle/>
          <a:p>
            <a:r>
              <a:rPr lang="en-US" sz="2000" dirty="0"/>
              <a:t>Use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sz="2000" dirty="0"/>
              <a:t> to tackle the task shown in the table below on the indicated files.</a:t>
            </a:r>
            <a:endParaRPr lang="de-DE" sz="18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F96B69-94C6-46B5-9681-EFE02EF9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09: </a:t>
            </a:r>
            <a:r>
              <a:rPr lang="de-DE" dirty="0" err="1"/>
              <a:t>Counting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92300637-7731-73C9-1D82-9A47DF472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645680"/>
              </p:ext>
            </p:extLst>
          </p:nvPr>
        </p:nvGraphicFramePr>
        <p:xfrm>
          <a:off x="2032000" y="231648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131558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91069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630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 lines, words and characters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magicprecons.txt, .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files, .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gb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903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 lines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Capitals.txt &amp; Countries.txt, .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779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 words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.py files, Fields_Biology.txt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5987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 characters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Biol_Processes.txt, .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json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81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 length of longest line (optional)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.txt-files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9501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205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22F3F-EA85-2AC2-C3F6-4BF40A56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uniq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83873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223E391-716A-4944-9108-6C9391CD5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command </a:t>
            </a:r>
            <a:r>
              <a:rPr lang="en-US" dirty="0" err="1"/>
              <a:t>uniq</a:t>
            </a:r>
            <a:r>
              <a:rPr lang="en-US" dirty="0"/>
              <a:t> allows us to display only lines that are unique in a certain file in our terminal</a:t>
            </a:r>
          </a:p>
          <a:p>
            <a:r>
              <a:rPr lang="en-US" dirty="0"/>
              <a:t>However this only works if there are duplicate lines that are written directly after each other (see next slides for more examples)</a:t>
            </a:r>
          </a:p>
          <a:p>
            <a:r>
              <a:rPr lang="en-US" dirty="0"/>
              <a:t>Therefore </a:t>
            </a:r>
            <a:r>
              <a:rPr lang="en-US" dirty="0" err="1"/>
              <a:t>uniq</a:t>
            </a:r>
            <a:r>
              <a:rPr lang="en-US" dirty="0"/>
              <a:t> is mainly used in combination with sort, to produce better results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BDEC03-32AE-466A-91FF-0E11D64D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uniq</a:t>
            </a:r>
            <a:r>
              <a:rPr lang="de-DE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19444204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9C9F3BF-7F4E-CD96-8C7A-CF5C6F61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uniq</a:t>
            </a:r>
            <a:r>
              <a:rPr lang="de-DE" dirty="0"/>
              <a:t> II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437839-74AC-8A41-075B-23653F75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692696"/>
            <a:ext cx="9770665" cy="5616624"/>
          </a:xfrm>
        </p:spPr>
        <p:txBody>
          <a:bodyPr/>
          <a:lstStyle/>
          <a:p>
            <a:r>
              <a:rPr lang="de-DE" dirty="0"/>
              <a:t>Imagine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containing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different </a:t>
            </a:r>
            <a:r>
              <a:rPr lang="de-DE" dirty="0" err="1"/>
              <a:t>animal</a:t>
            </a:r>
            <a:r>
              <a:rPr lang="de-DE" dirty="0"/>
              <a:t> </a:t>
            </a:r>
            <a:r>
              <a:rPr lang="de-DE" dirty="0" err="1"/>
              <a:t>names</a:t>
            </a:r>
            <a:endParaRPr lang="de-DE" dirty="0"/>
          </a:p>
          <a:p>
            <a:r>
              <a:rPr lang="de-DE" dirty="0"/>
              <a:t>By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uniq</a:t>
            </a:r>
            <a:r>
              <a:rPr lang="de-DE" dirty="0"/>
              <a:t> on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determine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  <a:p>
            <a:r>
              <a:rPr lang="de-DE" dirty="0"/>
              <a:t>Keep in </a:t>
            </a:r>
            <a:r>
              <a:rPr lang="de-DE" dirty="0" err="1"/>
              <a:t>mind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identical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beneath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recognized</a:t>
            </a:r>
            <a:r>
              <a:rPr lang="de-DE" dirty="0"/>
              <a:t> </a:t>
            </a:r>
            <a:r>
              <a:rPr lang="de-DE" dirty="0" err="1"/>
              <a:t>duplicates</a:t>
            </a:r>
            <a:r>
              <a:rPr lang="de-DE" dirty="0"/>
              <a:t> (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circle</a:t>
            </a:r>
            <a:r>
              <a:rPr lang="de-DE" dirty="0"/>
              <a:t>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FD1654A-3E3A-51E4-08DD-5936F34C75A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525124" y="692696"/>
            <a:ext cx="1331515" cy="5616624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925BD5C-187E-5DDB-7B9C-84D26E6057AB}"/>
              </a:ext>
            </a:extLst>
          </p:cNvPr>
          <p:cNvSpPr/>
          <p:nvPr/>
        </p:nvSpPr>
        <p:spPr>
          <a:xfrm>
            <a:off x="10382250" y="1276350"/>
            <a:ext cx="1331515" cy="8763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55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9C9F3BF-7F4E-CD96-8C7A-CF5C6F61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uniq</a:t>
            </a:r>
            <a:r>
              <a:rPr lang="de-DE" dirty="0"/>
              <a:t> III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437839-74AC-8A41-075B-23653F75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692696"/>
            <a:ext cx="9770665" cy="5616624"/>
          </a:xfrm>
        </p:spPr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lvl="1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As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horse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times</a:t>
            </a:r>
            <a:r>
              <a:rPr lang="de-DE" dirty="0"/>
              <a:t>, </a:t>
            </a:r>
            <a:r>
              <a:rPr lang="de-DE" dirty="0" err="1"/>
              <a:t>it‘s</a:t>
            </a:r>
            <a:r>
              <a:rPr lang="de-DE" dirty="0"/>
              <a:t> not </a:t>
            </a:r>
            <a:r>
              <a:rPr lang="de-DE" dirty="0" err="1"/>
              <a:t>seen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duplicate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FD1654A-3E3A-51E4-08DD-5936F34C75A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525124" y="692696"/>
            <a:ext cx="1331515" cy="5616624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9785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7411C9F-48F4-E91F-FD28-06DEE83ED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Of course we can adjust the behavior of </a:t>
            </a:r>
            <a:r>
              <a:rPr lang="en-US" dirty="0" err="1">
                <a:latin typeface="HelveticaNeue LT 55 Roman" panose="020B0604020202020204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 with the help of options, just like we could for other commands as well</a:t>
            </a:r>
          </a:p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The three most useful options are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    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</a:t>
            </a:r>
            <a:r>
              <a:rPr lang="en-US" dirty="0"/>
              <a:t> 	shows unique lines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–d animals.txt 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</a:t>
            </a:r>
            <a:r>
              <a:rPr lang="en-US" dirty="0"/>
              <a:t> 	shows duplicate lines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–c animals.txt 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</a:t>
            </a:r>
            <a:r>
              <a:rPr lang="en-US" dirty="0"/>
              <a:t> 	tells us the amount of duplicates found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 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</a:t>
            </a:r>
            <a:r>
              <a:rPr lang="en-US" dirty="0"/>
              <a:t> 	ignores case sensitivity of the lines</a:t>
            </a:r>
          </a:p>
          <a:p>
            <a:pPr marL="360363" lvl="1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CA2E53-AB6D-7EEC-CF68-2CABE48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uniq</a:t>
            </a:r>
            <a:r>
              <a:rPr lang="de-DE" dirty="0"/>
              <a:t> IV</a:t>
            </a:r>
          </a:p>
        </p:txBody>
      </p:sp>
    </p:spTree>
    <p:extLst>
      <p:ext uri="{BB962C8B-B14F-4D97-AF65-F5344CB8AC3E}">
        <p14:creationId xmlns:p14="http://schemas.microsoft.com/office/powerpoint/2010/main" val="38390129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0C55613-0503-4424-BFE4-3214940A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5"/>
            <a:ext cx="11521280" cy="1112041"/>
          </a:xfrm>
        </p:spPr>
        <p:txBody>
          <a:bodyPr numCol="1"/>
          <a:lstStyle/>
          <a:p>
            <a:r>
              <a:rPr lang="en-US" dirty="0"/>
              <a:t>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/>
              <a:t> command to tackle the tasks shown in the table below on the indicated files.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E479B77-0D71-42A5-AF42-BC0FCC0C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10: Unique </a:t>
            </a:r>
            <a:r>
              <a:rPr lang="de-DE" dirty="0" err="1"/>
              <a:t>contents</a:t>
            </a:r>
            <a:endParaRPr lang="de-DE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D01511ED-D5E8-2F2D-CE0E-3ADF73EF2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92564"/>
              </p:ext>
            </p:extLst>
          </p:nvPr>
        </p:nvGraphicFramePr>
        <p:xfrm>
          <a:off x="987409" y="2316480"/>
          <a:ext cx="962325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154">
                  <a:extLst>
                    <a:ext uri="{9D8B030D-6E8A-4147-A177-3AD203B41FA5}">
                      <a16:colId xmlns:a16="http://schemas.microsoft.com/office/drawing/2014/main" val="2876861518"/>
                    </a:ext>
                  </a:extLst>
                </a:gridCol>
                <a:gridCol w="4463098">
                  <a:extLst>
                    <a:ext uri="{9D8B030D-6E8A-4147-A177-3AD203B41FA5}">
                      <a16:colId xmlns:a16="http://schemas.microsoft.com/office/drawing/2014/main" val="557772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661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 all unique lines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Fields_Biology.txt,decksmagic.txt, Music.xml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834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 out duplicate lines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Languages.txt, make.py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4876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 out the 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duplicate counts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Heroes.txt, Names.txt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17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uniq in case insensitive manner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Fields_Biology.txt, decksmagic.txt, Music. xml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291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while skipping the first 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letters 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(optional)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animals.txt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78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2393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2B96B-56DE-EA6F-6202-DC6A92D5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14540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D9531C-5C45-44C6-B335-374AC72AC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a </a:t>
            </a:r>
            <a:r>
              <a:rPr lang="de-DE" dirty="0" err="1"/>
              <a:t>file</a:t>
            </a:r>
            <a:r>
              <a:rPr lang="de-DE" dirty="0"/>
              <a:t>,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and </a:t>
            </a:r>
            <a:r>
              <a:rPr lang="de-DE" dirty="0" err="1"/>
              <a:t>display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terminal</a:t>
            </a:r>
          </a:p>
          <a:p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in </a:t>
            </a:r>
            <a:r>
              <a:rPr lang="de-DE" dirty="0" err="1"/>
              <a:t>alphabetical</a:t>
            </a:r>
            <a:r>
              <a:rPr lang="de-DE" dirty="0"/>
              <a:t> </a:t>
            </a:r>
            <a:r>
              <a:rPr lang="de-DE" dirty="0" err="1"/>
              <a:t>order</a:t>
            </a:r>
            <a:endParaRPr lang="de-DE" dirty="0"/>
          </a:p>
          <a:p>
            <a:r>
              <a:rPr lang="de-DE" dirty="0"/>
              <a:t>Per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top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sorted</a:t>
            </a:r>
            <a:r>
              <a:rPr lang="de-DE" dirty="0"/>
              <a:t> </a:t>
            </a:r>
            <a:r>
              <a:rPr lang="de-DE" dirty="0" err="1"/>
              <a:t>result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A36733C-71F7-4681-9FAB-285FD4D0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r>
              <a:rPr lang="de-DE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34863871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E56662F-A18E-8B56-AEFE-75915145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r>
              <a:rPr lang="de-DE" dirty="0"/>
              <a:t> II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8073B-72A9-52DC-9B7C-A614B8ED6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75" y="692696"/>
            <a:ext cx="8705849" cy="5616624"/>
          </a:xfrm>
        </p:spPr>
        <p:txBody>
          <a:bodyPr/>
          <a:lstStyle/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Imagine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file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called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animals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on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left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and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now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use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sort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on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with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following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command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:</a:t>
            </a:r>
            <a:endParaRPr lang="de-DE" sz="2400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The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result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would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see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on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right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side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now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D83A86-790F-69C3-617D-AA0EE9E744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591800" y="692696"/>
            <a:ext cx="1264840" cy="5616624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0EADE62C-87F1-4CD8-9B96-6F3A0A4B724C}"/>
              </a:ext>
            </a:extLst>
          </p:cNvPr>
          <p:cNvSpPr txBox="1">
            <a:spLocks/>
          </p:cNvSpPr>
          <p:nvPr/>
        </p:nvSpPr>
        <p:spPr>
          <a:xfrm>
            <a:off x="335359" y="759371"/>
            <a:ext cx="1264840" cy="5616624"/>
          </a:xfrm>
          <a:prstGeom prst="rect">
            <a:avLst/>
          </a:prstGeom>
        </p:spPr>
        <p:txBody>
          <a:bodyPr/>
          <a:lstStyle>
            <a:lvl1pPr marL="358775" indent="-358775" algn="l" defTabSz="914400" rtl="0" eaLnBrk="1" latinLnBrk="0" hangingPunct="1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1pPr>
            <a:lvl2pPr marL="719138" indent="-358775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SzPct val="60000"/>
              <a:buFont typeface="Wingdings 3" panose="05040102010807070707" pitchFamily="18" charset="2"/>
              <a:buChar char="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2pPr>
            <a:lvl3pPr marL="971550" indent="-250825" algn="l" defTabSz="914400" rtl="0" eaLnBrk="1" latinLnBrk="0" hangingPunct="1">
              <a:lnSpc>
                <a:spcPct val="15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3pPr>
            <a:lvl4pPr marL="1260000" indent="-252000" algn="l" defTabSz="914400" rtl="0" eaLnBrk="1" latinLnBrk="0" hangingPunct="1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805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E56662F-A18E-8B56-AEFE-75915145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r>
              <a:rPr lang="de-DE" dirty="0"/>
              <a:t> III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8073B-72A9-52DC-9B7C-A614B8ED6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75" y="692696"/>
            <a:ext cx="8705849" cy="5616624"/>
          </a:xfrm>
        </p:spPr>
        <p:txBody>
          <a:bodyPr/>
          <a:lstStyle/>
          <a:p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adjust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behavior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sort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with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help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different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options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well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For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example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could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sort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according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to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numerical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string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values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by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using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following</a:t>
            </a:r>
            <a:r>
              <a:rPr lang="de-DE" sz="2400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HelveticaNeue LT 55 Roman" panose="020B0604020202020204"/>
                <a:cs typeface="Courier New" panose="02070309020205020404" pitchFamily="49" charset="0"/>
              </a:rPr>
              <a:t>command</a:t>
            </a:r>
            <a:endParaRPr lang="de-DE" sz="2400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-n animals.txt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The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result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would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see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on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right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side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again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As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see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line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that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started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with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a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number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now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at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end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our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result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instead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of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beginning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Furthermore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numbers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are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now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interpreted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correctly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D83A86-790F-69C3-617D-AA0EE9E744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591800" y="692696"/>
            <a:ext cx="1264840" cy="5616624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pPr marL="0" indent="0">
              <a:buNone/>
            </a:pP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0EADE62C-87F1-4CD8-9B96-6F3A0A4B724C}"/>
              </a:ext>
            </a:extLst>
          </p:cNvPr>
          <p:cNvSpPr txBox="1">
            <a:spLocks/>
          </p:cNvSpPr>
          <p:nvPr/>
        </p:nvSpPr>
        <p:spPr>
          <a:xfrm>
            <a:off x="335359" y="759371"/>
            <a:ext cx="1264840" cy="5616624"/>
          </a:xfrm>
          <a:prstGeom prst="rect">
            <a:avLst/>
          </a:prstGeom>
        </p:spPr>
        <p:txBody>
          <a:bodyPr/>
          <a:lstStyle>
            <a:lvl1pPr marL="358775" indent="-358775" algn="l" defTabSz="914400" rtl="0" eaLnBrk="1" latinLnBrk="0" hangingPunct="1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1pPr>
            <a:lvl2pPr marL="719138" indent="-358775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SzPct val="60000"/>
              <a:buFont typeface="Wingdings 3" panose="05040102010807070707" pitchFamily="18" charset="2"/>
              <a:buChar char="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2pPr>
            <a:lvl3pPr marL="971550" indent="-250825" algn="l" defTabSz="914400" rtl="0" eaLnBrk="1" latinLnBrk="0" hangingPunct="1">
              <a:lnSpc>
                <a:spcPct val="15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3pPr>
            <a:lvl4pPr marL="1260000" indent="-252000" algn="l" defTabSz="914400" rtl="0" eaLnBrk="1" latinLnBrk="0" hangingPunct="1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294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E56662F-A18E-8B56-AEFE-75915145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r>
              <a:rPr lang="de-DE" dirty="0"/>
              <a:t> IV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8073B-72A9-52DC-9B7C-A614B8ED6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75" y="692696"/>
            <a:ext cx="8705849" cy="5616624"/>
          </a:xfrm>
        </p:spPr>
        <p:txBody>
          <a:bodyPr/>
          <a:lstStyle/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Last but not least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sort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our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file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in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reversed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order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by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using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following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command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:</a:t>
            </a:r>
            <a:endParaRPr lang="de-DE" sz="2400" dirty="0">
              <a:latin typeface="HelveticaNeue LT 55 Roman" panose="020B0604020202020204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-r animals.txt</a:t>
            </a:r>
          </a:p>
          <a:p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The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result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would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now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be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as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we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can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see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on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the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right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side</a:t>
            </a:r>
            <a:r>
              <a:rPr lang="de-DE" dirty="0">
                <a:latin typeface="HelveticaNeue LT 55 Roman" panose="020B0604020202020204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HelveticaNeue LT 55 Roman" panose="020B0604020202020204"/>
                <a:cs typeface="Courier New" panose="02070309020205020404" pitchFamily="49" charset="0"/>
              </a:rPr>
              <a:t>again</a:t>
            </a:r>
            <a:endParaRPr lang="de-DE" dirty="0">
              <a:latin typeface="HelveticaNeue LT 55 Roman" panose="020B0604020202020204"/>
              <a:cs typeface="Courier New" panose="02070309020205020404" pitchFamily="49" charset="0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D83A86-790F-69C3-617D-AA0EE9E744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591800" y="692696"/>
            <a:ext cx="1264840" cy="5616624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endParaRPr 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endParaRPr lang="de-DE" dirty="0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0EADE62C-87F1-4CD8-9B96-6F3A0A4B724C}"/>
              </a:ext>
            </a:extLst>
          </p:cNvPr>
          <p:cNvSpPr txBox="1">
            <a:spLocks/>
          </p:cNvSpPr>
          <p:nvPr/>
        </p:nvSpPr>
        <p:spPr>
          <a:xfrm>
            <a:off x="335359" y="759371"/>
            <a:ext cx="1264840" cy="5616624"/>
          </a:xfrm>
          <a:prstGeom prst="rect">
            <a:avLst/>
          </a:prstGeom>
        </p:spPr>
        <p:txBody>
          <a:bodyPr/>
          <a:lstStyle>
            <a:lvl1pPr marL="358775" indent="-358775" algn="l" defTabSz="914400" rtl="0" eaLnBrk="1" latinLnBrk="0" hangingPunct="1">
              <a:lnSpc>
                <a:spcPct val="150000"/>
              </a:lnSpc>
              <a:spcBef>
                <a:spcPts val="24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1pPr>
            <a:lvl2pPr marL="719138" indent="-358775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SzPct val="60000"/>
              <a:buFont typeface="Wingdings 3" panose="05040102010807070707" pitchFamily="18" charset="2"/>
              <a:buChar char="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2pPr>
            <a:lvl3pPr marL="971550" indent="-250825" algn="l" defTabSz="914400" rtl="0" eaLnBrk="1" latinLnBrk="0" hangingPunct="1">
              <a:lnSpc>
                <a:spcPct val="15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3pPr>
            <a:lvl4pPr marL="1260000" indent="-252000" algn="l" defTabSz="914400" rtl="0" eaLnBrk="1" latinLnBrk="0" hangingPunct="1">
              <a:lnSpc>
                <a:spcPct val="150000"/>
              </a:lnSpc>
              <a:spcBef>
                <a:spcPts val="384"/>
              </a:spcBef>
              <a:buFont typeface="HelveticaNeue LT 55 Roman" panose="020B0604020202020204" pitchFamily="34" charset="0"/>
              <a:buChar char="-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Neue LT 55 Roman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15shark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whale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sz="2000">
                <a:latin typeface="Courier New" panose="02070309020205020404" pitchFamily="49" charset="0"/>
                <a:cs typeface="Courier New" panose="02070309020205020404" pitchFamily="49" charset="0"/>
              </a:rPr>
              <a:t>horse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79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7093FC-48F2-7C99-979C-4E459804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ignore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–f: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–f animals.txt</a:t>
            </a:r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ignore</a:t>
            </a:r>
            <a:r>
              <a:rPr lang="de-DE" dirty="0"/>
              <a:t> </a:t>
            </a:r>
            <a:r>
              <a:rPr lang="de-DE" dirty="0" err="1"/>
              <a:t>leading</a:t>
            </a:r>
            <a:r>
              <a:rPr lang="de-DE" dirty="0"/>
              <a:t> </a:t>
            </a:r>
            <a:r>
              <a:rPr lang="de-DE" dirty="0" err="1"/>
              <a:t>blanks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–b: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–b animals.txt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43FD4C7-F12D-698E-1346-21AAE302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</a:t>
            </a:r>
            <a:r>
              <a:rPr lang="de-DE" dirty="0"/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16282933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E2A7988-0197-4163-8960-383B4A02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11521280" cy="1355179"/>
          </a:xfrm>
        </p:spPr>
        <p:txBody>
          <a:bodyPr/>
          <a:lstStyle/>
          <a:p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US" dirty="0"/>
              <a:t> command to tackle the tasks shown in the table below on the indicated files.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773C9FD-1CD6-43F7-9BCD-EE625163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11: </a:t>
            </a:r>
            <a:r>
              <a:rPr lang="de-DE" dirty="0" err="1"/>
              <a:t>Sorting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files</a:t>
            </a:r>
          </a:p>
        </p:txBody>
      </p:sp>
      <p:graphicFrame>
        <p:nvGraphicFramePr>
          <p:cNvPr id="2" name="Tabelle 2">
            <a:extLst>
              <a:ext uri="{FF2B5EF4-FFF2-40B4-BE49-F238E27FC236}">
                <a16:creationId xmlns:a16="http://schemas.microsoft.com/office/drawing/2014/main" id="{CB49C8F3-EC46-270D-A807-2ABCA3BB9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331915"/>
              </p:ext>
            </p:extLst>
          </p:nvPr>
        </p:nvGraphicFramePr>
        <p:xfrm>
          <a:off x="1654174" y="2233907"/>
          <a:ext cx="888365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826">
                  <a:extLst>
                    <a:ext uri="{9D8B030D-6E8A-4147-A177-3AD203B41FA5}">
                      <a16:colId xmlns:a16="http://schemas.microsoft.com/office/drawing/2014/main" val="3079674471"/>
                    </a:ext>
                  </a:extLst>
                </a:gridCol>
                <a:gridCol w="4441826">
                  <a:extLst>
                    <a:ext uri="{9D8B030D-6E8A-4147-A177-3AD203B41FA5}">
                      <a16:colId xmlns:a16="http://schemas.microsoft.com/office/drawing/2014/main" val="51346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9657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 alphabetical order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Fields_Biology.txt, decksmagic.txt, Music.xml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5734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According to numerical strings (-n)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Numbers.txt, Years.txt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93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 reversed order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Heroes.txt, Names.txt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10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Ignoring leading blanks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Capitals.txt, Countries.txt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368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 case insensitive manner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Fields_Biology.txt, decksmagic.txt, Music.xml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08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Ignoring leading blanks and reversed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Capitals.txt, Countries.txt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190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According to numerical strings and reversed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Numbers.txt, Years.txt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769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Optional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.txt files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937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according to months (optional)</a:t>
                      </a:r>
                      <a:endParaRPr lang="de-D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Results.txt</a:t>
                      </a:r>
                      <a:endParaRPr lang="de-D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705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2501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1F49E-DA0D-EF8C-AEF3-13E288CD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Redirecting</a:t>
            </a:r>
            <a:r>
              <a:rPr lang="de-DE" dirty="0"/>
              <a:t> </a:t>
            </a:r>
            <a:r>
              <a:rPr lang="de-DE" dirty="0" err="1"/>
              <a:t>outputs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5588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F405E91-DEE4-4F0A-44C2-2530EDACE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saw</a:t>
            </a:r>
            <a:r>
              <a:rPr lang="de-DE" dirty="0"/>
              <a:t> Bash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display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terminal</a:t>
            </a:r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stdout</a:t>
            </a:r>
            <a:r>
              <a:rPr lang="de-DE" dirty="0"/>
              <a:t> and Bash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redirect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files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redirect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nonexisting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process</a:t>
            </a:r>
            <a:endParaRPr lang="de-DE" dirty="0"/>
          </a:p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hand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redirect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an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overwrite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careful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A5A14A-0A71-C743-55D7-7FEB6BCC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Redirecting</a:t>
            </a:r>
            <a:r>
              <a:rPr lang="de-DE" dirty="0"/>
              <a:t> Outputs I</a:t>
            </a:r>
          </a:p>
        </p:txBody>
      </p:sp>
    </p:spTree>
    <p:extLst>
      <p:ext uri="{BB962C8B-B14F-4D97-AF65-F5344CB8AC3E}">
        <p14:creationId xmlns:p14="http://schemas.microsoft.com/office/powerpoint/2010/main" val="13042603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7848635-839E-D8E4-BEF7-7CCB67FE4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redirect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terminal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just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en-US" dirty="0"/>
              <a:t>“&gt;” and the name of the file in which we want to redirect our output into after the corresponding command</a:t>
            </a:r>
          </a:p>
          <a:p>
            <a:r>
              <a:rPr lang="en-US" dirty="0"/>
              <a:t>For example we could write the contents of a directory into a file “list.txt”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ls &gt; list.txt</a:t>
            </a:r>
          </a:p>
          <a:p>
            <a:r>
              <a:rPr lang="en-US" dirty="0"/>
              <a:t>The file “list.txt” doesn’t need to exist, it will be created during the output redirection</a:t>
            </a:r>
          </a:p>
          <a:p>
            <a:r>
              <a:rPr lang="en-US" dirty="0"/>
              <a:t>Be careful however when using output redirection with an existing file since using it like this, will overwrite the contents of your file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A6F1CDE-C8E7-672B-CE1E-0AEE46536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Redirecting</a:t>
            </a:r>
            <a:r>
              <a:rPr lang="de-DE" dirty="0"/>
              <a:t> Outputs II</a:t>
            </a:r>
          </a:p>
        </p:txBody>
      </p:sp>
    </p:spTree>
    <p:extLst>
      <p:ext uri="{BB962C8B-B14F-4D97-AF65-F5344CB8AC3E}">
        <p14:creationId xmlns:p14="http://schemas.microsoft.com/office/powerpoint/2010/main" val="19631649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9A67670-1462-9469-F8D0-7D1BE1F8E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collect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in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append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just </a:t>
            </a:r>
            <a:r>
              <a:rPr lang="de-DE" dirty="0" err="1"/>
              <a:t>writing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en-US" dirty="0"/>
              <a:t>done by using “&gt;&gt;” and the file name after your command</a:t>
            </a:r>
          </a:p>
          <a:p>
            <a:r>
              <a:rPr lang="en-US" dirty="0"/>
              <a:t>For example I could collect the results of two different find commands into the same file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find . –name “*.txt” &gt; files.txt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find . –name “*.zip” &gt;&gt; files.txt</a:t>
            </a:r>
          </a:p>
          <a:p>
            <a:r>
              <a:rPr lang="en-US" dirty="0"/>
              <a:t>Now the results of the first find command were written into the “files.txt” and the results of the second find command were added afterwards to the end of “files.txt”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7BDBD1C-F294-F78C-60D8-40660D91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Redirecting</a:t>
            </a:r>
            <a:r>
              <a:rPr lang="de-DE" dirty="0"/>
              <a:t> Outputs III</a:t>
            </a:r>
          </a:p>
        </p:txBody>
      </p:sp>
    </p:spTree>
    <p:extLst>
      <p:ext uri="{BB962C8B-B14F-4D97-AF65-F5344CB8AC3E}">
        <p14:creationId xmlns:p14="http://schemas.microsoft.com/office/powerpoint/2010/main" val="28974581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9A8D83-F592-23F7-3929-3D6F3E67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83864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3ACFAA-A6E2-C67A-B218-83999BCE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concatenate</a:t>
            </a:r>
            <a:r>
              <a:rPr lang="de-DE" dirty="0"/>
              <a:t> and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multiple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display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terminal</a:t>
            </a:r>
          </a:p>
          <a:p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display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terminal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</a:t>
            </a:r>
          </a:p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hand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multiple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handing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animals.txt Heroes.txt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4D2254-2405-B0A7-7C27-C91C3A5A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</a:t>
            </a:r>
            <a:r>
              <a:rPr lang="de-DE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41793542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EE48CA2-A0AC-07AA-BB57-5F8AF8D5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Furthermore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wildcards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at </a:t>
            </a:r>
            <a:r>
              <a:rPr lang="de-DE" dirty="0" err="1"/>
              <a:t>once</a:t>
            </a:r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txt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*.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Last but not least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redirection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*.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&gt; texts.txt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B195E1C-05A9-2029-EA0C-CBE3A4D4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</a:t>
            </a:r>
            <a:r>
              <a:rPr lang="de-DE" dirty="0"/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35550732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DBC9806-471E-2E0E-2940-983EEB442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command cat to look at the following files:</a:t>
            </a:r>
          </a:p>
          <a:p>
            <a:pPr lvl="1"/>
            <a:r>
              <a:rPr lang="en-US" dirty="0"/>
              <a:t>Heroes.txt</a:t>
            </a:r>
          </a:p>
          <a:p>
            <a:pPr lvl="1"/>
            <a:r>
              <a:rPr lang="en-US" dirty="0"/>
              <a:t>Capitals.txt</a:t>
            </a:r>
          </a:p>
          <a:p>
            <a:pPr lvl="1"/>
            <a:r>
              <a:rPr lang="en-US" dirty="0"/>
              <a:t>Countries.txt</a:t>
            </a:r>
          </a:p>
          <a:p>
            <a:r>
              <a:rPr lang="en-US" dirty="0"/>
              <a:t>Combine the following files using cat:</a:t>
            </a:r>
          </a:p>
          <a:p>
            <a:pPr lvl="1"/>
            <a:r>
              <a:rPr lang="en-US" dirty="0"/>
              <a:t>Capitals.txt &amp; Countries.txt</a:t>
            </a:r>
          </a:p>
          <a:p>
            <a:pPr lvl="1"/>
            <a:r>
              <a:rPr lang="en-US" dirty="0"/>
              <a:t>all .</a:t>
            </a:r>
            <a:r>
              <a:rPr lang="en-US" dirty="0" err="1"/>
              <a:t>py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all .</a:t>
            </a:r>
            <a:r>
              <a:rPr lang="en-US" dirty="0" err="1"/>
              <a:t>gb</a:t>
            </a:r>
            <a:r>
              <a:rPr lang="en-US" dirty="0"/>
              <a:t> files</a:t>
            </a:r>
          </a:p>
          <a:p>
            <a:r>
              <a:rPr lang="en-US" dirty="0"/>
              <a:t>Write the resulting outputs of the combinations into new files.</a:t>
            </a:r>
          </a:p>
          <a:p>
            <a:r>
              <a:rPr lang="en-US" dirty="0"/>
              <a:t>Optional Task: Number all output lines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9076D8-A427-F536-D0C7-BC30C718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12: Looking at and </a:t>
            </a:r>
            <a:r>
              <a:rPr lang="de-DE" dirty="0" err="1"/>
              <a:t>combining</a:t>
            </a:r>
            <a:r>
              <a:rPr lang="de-DE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0028706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8F923-68B1-788D-3532-82490E93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</a:t>
            </a:r>
          </a:p>
        </p:txBody>
      </p:sp>
    </p:spTree>
    <p:extLst>
      <p:ext uri="{BB962C8B-B14F-4D97-AF65-F5344CB8AC3E}">
        <p14:creationId xmlns:p14="http://schemas.microsoft.com/office/powerpoint/2010/main" val="421708117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F43C68-4485-444D-A876-A0225565B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learned earlier that Bash allows us to redirect the output of a command into a file</a:t>
            </a:r>
          </a:p>
          <a:p>
            <a:r>
              <a:rPr lang="en-US" dirty="0"/>
              <a:t>Furthermore Bash allows us to use outputs of our command as inputs of other commands with the help of the pipe operator “|“</a:t>
            </a:r>
          </a:p>
          <a:p>
            <a:r>
              <a:rPr lang="en-US" dirty="0"/>
              <a:t>This works mainly with commands that produce some form of display in the terminal</a:t>
            </a:r>
          </a:p>
          <a:p>
            <a:r>
              <a:rPr lang="en-US" dirty="0"/>
              <a:t>For example we could combine two files using cat as follows: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cat decksmagic.txt magicprecons.txt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1DEB07-176D-423A-A828-DDF37386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 I</a:t>
            </a:r>
          </a:p>
        </p:txBody>
      </p:sp>
    </p:spTree>
    <p:extLst>
      <p:ext uri="{BB962C8B-B14F-4D97-AF65-F5344CB8AC3E}">
        <p14:creationId xmlns:p14="http://schemas.microsoft.com/office/powerpoint/2010/main" val="32795158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D12BAD5-D5B9-4802-6193-38693D39F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Combining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just like </a:t>
            </a:r>
            <a:r>
              <a:rPr lang="de-DE" dirty="0" err="1"/>
              <a:t>this</a:t>
            </a:r>
            <a:r>
              <a:rPr lang="de-DE" dirty="0"/>
              <a:t> will </a:t>
            </a:r>
            <a:r>
              <a:rPr lang="de-DE" dirty="0" err="1"/>
              <a:t>result</a:t>
            </a:r>
            <a:r>
              <a:rPr lang="de-DE" dirty="0"/>
              <a:t> in an </a:t>
            </a:r>
            <a:r>
              <a:rPr lang="de-DE" dirty="0" err="1"/>
              <a:t>unsorted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, so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sorting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do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 a </a:t>
            </a:r>
            <a:r>
              <a:rPr lang="de-DE" dirty="0" err="1"/>
              <a:t>pipe</a:t>
            </a:r>
            <a:r>
              <a:rPr lang="de-DE" dirty="0"/>
              <a:t> and </a:t>
            </a:r>
            <a:r>
              <a:rPr lang="de-DE" dirty="0" err="1"/>
              <a:t>invoking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afterwards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cat decksmagic.txt magicprecons.txt | sort</a:t>
            </a:r>
            <a:endParaRPr lang="de-DE" dirty="0"/>
          </a:p>
          <a:p>
            <a:r>
              <a:rPr lang="de-DE" dirty="0" err="1"/>
              <a:t>Now</a:t>
            </a:r>
            <a:r>
              <a:rPr lang="de-DE" dirty="0"/>
              <a:t> Bash </a:t>
            </a:r>
            <a:r>
              <a:rPr lang="de-DE" dirty="0" err="1"/>
              <a:t>executes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and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files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combined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handed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and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 on </a:t>
            </a:r>
            <a:r>
              <a:rPr lang="de-DE" dirty="0" err="1"/>
              <a:t>them</a:t>
            </a:r>
            <a:endParaRPr lang="de-DE" dirty="0"/>
          </a:p>
          <a:p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specifying</a:t>
            </a:r>
            <a:r>
              <a:rPr lang="de-DE" dirty="0"/>
              <a:t> a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/ </a:t>
            </a:r>
            <a:r>
              <a:rPr lang="de-DE" dirty="0" err="1"/>
              <a:t>argument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653FE2-3B87-F0C3-D74B-58AA8197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 II</a:t>
            </a:r>
          </a:p>
        </p:txBody>
      </p:sp>
    </p:spTree>
    <p:extLst>
      <p:ext uri="{BB962C8B-B14F-4D97-AF65-F5344CB8AC3E}">
        <p14:creationId xmlns:p14="http://schemas.microsoft.com/office/powerpoint/2010/main" val="28346749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470D6B4-4D25-84E0-3B5D-DBD5AC49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limit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chain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pipes</a:t>
            </a:r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uniq</a:t>
            </a:r>
            <a:r>
              <a:rPr lang="de-DE" dirty="0"/>
              <a:t> after </a:t>
            </a:r>
            <a:r>
              <a:rPr lang="de-DE" dirty="0" err="1"/>
              <a:t>sorting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pipe</a:t>
            </a:r>
            <a:r>
              <a:rPr lang="de-DE" dirty="0"/>
              <a:t> </a:t>
            </a:r>
            <a:r>
              <a:rPr lang="de-DE" dirty="0" err="1"/>
              <a:t>operator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uniq</a:t>
            </a:r>
            <a:r>
              <a:rPr lang="de-DE" dirty="0"/>
              <a:t> </a:t>
            </a:r>
            <a:r>
              <a:rPr lang="de-DE" dirty="0" err="1"/>
              <a:t>afterwards</a:t>
            </a:r>
            <a:r>
              <a:rPr lang="de-DE" dirty="0"/>
              <a:t>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cat decksmagic.txt magicprecons.txt | sort 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endParaRPr lang="de-DE" dirty="0"/>
          </a:p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cat</a:t>
            </a:r>
            <a:r>
              <a:rPr lang="de-DE" dirty="0"/>
              <a:t>,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sorted</a:t>
            </a:r>
            <a:r>
              <a:rPr lang="de-DE" dirty="0"/>
              <a:t> and </a:t>
            </a:r>
            <a:r>
              <a:rPr lang="de-DE" dirty="0" err="1"/>
              <a:t>afterwards</a:t>
            </a:r>
            <a:r>
              <a:rPr lang="de-DE" dirty="0"/>
              <a:t> </a:t>
            </a:r>
            <a:r>
              <a:rPr lang="de-DE" dirty="0" err="1"/>
              <a:t>uniq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sorted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B3A47EA-B9BF-5964-5FCF-A0E4DAF8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 III</a:t>
            </a:r>
          </a:p>
        </p:txBody>
      </p:sp>
    </p:spTree>
    <p:extLst>
      <p:ext uri="{BB962C8B-B14F-4D97-AF65-F5344CB8AC3E}">
        <p14:creationId xmlns:p14="http://schemas.microsoft.com/office/powerpoint/2010/main" val="26780759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D31E02F-BE13-0377-2351-FA72E24B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but not least we are able to write the result of our Pipe, which is again a simple output in our terminal into a file by redirecting its output:</a:t>
            </a:r>
          </a:p>
          <a:p>
            <a:pPr marL="360363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cat decksmagic.txt magicprecons.txt | sort 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Results.txt</a:t>
            </a:r>
          </a:p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The file Results.txt now contains only the unique lines of text that appeared in both of the files we combined using cat</a:t>
            </a:r>
          </a:p>
          <a:p>
            <a:r>
              <a:rPr lang="en-US" dirty="0">
                <a:latin typeface="HelveticaNeue LT 55 Roman" panose="020B0604020202020204"/>
                <a:cs typeface="Courier New" panose="02070309020205020404" pitchFamily="49" charset="0"/>
              </a:rPr>
              <a:t>That means any duplicates that appeared throughout these files, even if they aren’t present in the same file, were removed using this pipe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FA10C6-594C-0868-71DE-91D403B3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 IV</a:t>
            </a:r>
          </a:p>
        </p:txBody>
      </p:sp>
    </p:spTree>
    <p:extLst>
      <p:ext uri="{BB962C8B-B14F-4D97-AF65-F5344CB8AC3E}">
        <p14:creationId xmlns:p14="http://schemas.microsoft.com/office/powerpoint/2010/main" val="113858039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89D6B4B-A338-49A1-8E3D-EEBC58FCE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four files called </a:t>
            </a:r>
            <a:r>
              <a:rPr lang="en-US" dirty="0" err="1"/>
              <a:t>grocery..txt</a:t>
            </a:r>
            <a:r>
              <a:rPr lang="en-US" dirty="0"/>
              <a:t> </a:t>
            </a:r>
          </a:p>
          <a:p>
            <a:r>
              <a:rPr lang="en-US"/>
              <a:t>Create a pipe that combines the contents of these files, sorts these contents, displays only unique lines and counts how many unique lines are left over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B03CAA9-B83D-4F65-AEAC-0B555ADB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Exercise 13: Piping</a:t>
            </a:r>
          </a:p>
        </p:txBody>
      </p:sp>
    </p:spTree>
    <p:extLst>
      <p:ext uri="{BB962C8B-B14F-4D97-AF65-F5344CB8AC3E}">
        <p14:creationId xmlns:p14="http://schemas.microsoft.com/office/powerpoint/2010/main" val="8532667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12868F0-59B0-0015-A0CF-71C7CC6B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sz="1800" dirty="0">
                <a:hlinkClick r:id="rId2"/>
              </a:rPr>
              <a:t>https://en.wikipedia.org/wiki/Archive_file</a:t>
            </a:r>
            <a:r>
              <a:rPr lang="de-DE" sz="1800" dirty="0"/>
              <a:t> (Last </a:t>
            </a:r>
            <a:r>
              <a:rPr lang="de-DE" sz="1800" dirty="0" err="1"/>
              <a:t>edited</a:t>
            </a:r>
            <a:r>
              <a:rPr lang="de-DE" sz="1800" dirty="0"/>
              <a:t>: 21.07.2022, Last </a:t>
            </a:r>
            <a:r>
              <a:rPr lang="de-DE" sz="1800" dirty="0" err="1"/>
              <a:t>visited</a:t>
            </a:r>
            <a:r>
              <a:rPr lang="de-DE" sz="1800" dirty="0"/>
              <a:t>: 02.01.2023)</a:t>
            </a:r>
          </a:p>
          <a:p>
            <a:pPr>
              <a:buFont typeface="+mj-lt"/>
              <a:buAutoNum type="arabicPeriod"/>
            </a:pPr>
            <a:r>
              <a:rPr lang="de-DE" sz="1800" dirty="0">
                <a:hlinkClick r:id="rId3"/>
              </a:rPr>
              <a:t>http://www.linfo.org/path_env_var.html</a:t>
            </a:r>
            <a:r>
              <a:rPr lang="de-DE" sz="1800" dirty="0"/>
              <a:t> (Last </a:t>
            </a:r>
            <a:r>
              <a:rPr lang="de-DE" sz="1800" dirty="0" err="1"/>
              <a:t>edited</a:t>
            </a:r>
            <a:r>
              <a:rPr lang="de-DE" sz="1800" dirty="0"/>
              <a:t>: 08.07.2007, Last </a:t>
            </a:r>
            <a:r>
              <a:rPr lang="de-DE" sz="1800" dirty="0" err="1"/>
              <a:t>visited</a:t>
            </a:r>
            <a:r>
              <a:rPr lang="de-DE" sz="1800" dirty="0"/>
              <a:t>: 02.01.2023)</a:t>
            </a:r>
          </a:p>
          <a:p>
            <a:pPr>
              <a:buFont typeface="+mj-lt"/>
              <a:buAutoNum type="arabicPeriod"/>
            </a:pPr>
            <a:endParaRPr lang="de-DE" sz="1800" dirty="0"/>
          </a:p>
          <a:p>
            <a:pPr>
              <a:buFont typeface="+mj-lt"/>
              <a:buAutoNum type="arabicPeriod"/>
            </a:pPr>
            <a:endParaRPr lang="de-DE" sz="18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AFCBC4-6195-24D9-8840-DC55CCC8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2602820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_CQ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_CQ" id="{318E5E2B-FE01-4475-898E-CB76AB3E994D}" vid="{9B4336A8-4765-49D4-90F1-6496D09BD1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Design_CQ</Template>
  <TotalTime>0</TotalTime>
  <Words>6662</Words>
  <Application>Microsoft Office PowerPoint</Application>
  <PresentationFormat>Breitbild</PresentationFormat>
  <Paragraphs>917</Paragraphs>
  <Slides>103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103</vt:i4>
      </vt:variant>
    </vt:vector>
  </HeadingPairs>
  <TitlesOfParts>
    <vt:vector size="110" baseType="lpstr">
      <vt:lpstr>Arial</vt:lpstr>
      <vt:lpstr>Calibri</vt:lpstr>
      <vt:lpstr>Courier New</vt:lpstr>
      <vt:lpstr>HelveticaNeue LT 55 Roman</vt:lpstr>
      <vt:lpstr>Wingdings</vt:lpstr>
      <vt:lpstr>Wingdings 3</vt:lpstr>
      <vt:lpstr>Design_CQ</vt:lpstr>
      <vt:lpstr>Bash Commands</vt:lpstr>
      <vt:lpstr>Contents</vt:lpstr>
      <vt:lpstr>Basics</vt:lpstr>
      <vt:lpstr>Basics I</vt:lpstr>
      <vt:lpstr>Basics II – Where am I?</vt:lpstr>
      <vt:lpstr>Basics III – Options I</vt:lpstr>
      <vt:lpstr>Basics IV – Options II</vt:lpstr>
      <vt:lpstr>Basics V – Arguments</vt:lpstr>
      <vt:lpstr>Basics VI – Bash or Linux?</vt:lpstr>
      <vt:lpstr>Basics VII – Summary</vt:lpstr>
      <vt:lpstr>Exercise 01: Linux commands</vt:lpstr>
      <vt:lpstr>Change directory: cd</vt:lpstr>
      <vt:lpstr>cd I – Usage</vt:lpstr>
      <vt:lpstr>cd II – Examples</vt:lpstr>
      <vt:lpstr>cd III – Explanations</vt:lpstr>
      <vt:lpstr>cd IV – How to not get lost?</vt:lpstr>
      <vt:lpstr>list: ls</vt:lpstr>
      <vt:lpstr>ls I – Usage</vt:lpstr>
      <vt:lpstr>ls II – Default Listing</vt:lpstr>
      <vt:lpstr>ls III – Color Coding</vt:lpstr>
      <vt:lpstr>ls IV – Options</vt:lpstr>
      <vt:lpstr>make directories: mkdir</vt:lpstr>
      <vt:lpstr>mkdir I – Usage</vt:lpstr>
      <vt:lpstr>mkdir II – Examples</vt:lpstr>
      <vt:lpstr>Exercise 02: New directories</vt:lpstr>
      <vt:lpstr>Create files: touch</vt:lpstr>
      <vt:lpstr>touch I – Syntax </vt:lpstr>
      <vt:lpstr>touch II – Extensions</vt:lpstr>
      <vt:lpstr>touch III – Duplicates?</vt:lpstr>
      <vt:lpstr>touch IV – Examples</vt:lpstr>
      <vt:lpstr>Exercise 03: New Files</vt:lpstr>
      <vt:lpstr>remove: rm / rmdir</vt:lpstr>
      <vt:lpstr>Delete files/directories I – Basics</vt:lpstr>
      <vt:lpstr>Delete files/directories II – Deleting files</vt:lpstr>
      <vt:lpstr>Delete files/directories III – Deleting directories I</vt:lpstr>
      <vt:lpstr>Delete files/directories IV – Deleting directories II</vt:lpstr>
      <vt:lpstr>Exercise 04 – Deleting Things</vt:lpstr>
      <vt:lpstr>move: mv</vt:lpstr>
      <vt:lpstr>mv I – Basics</vt:lpstr>
      <vt:lpstr>mv II – Syntax</vt:lpstr>
      <vt:lpstr>mv III – Examples</vt:lpstr>
      <vt:lpstr>mv IV – Summary</vt:lpstr>
      <vt:lpstr>Exercise 05: Moving files</vt:lpstr>
      <vt:lpstr>copy: cp</vt:lpstr>
      <vt:lpstr>cp I – Basics</vt:lpstr>
      <vt:lpstr>cp II – Directories</vt:lpstr>
      <vt:lpstr>cp III – Examples</vt:lpstr>
      <vt:lpstr>Exercise 06: Copying Files</vt:lpstr>
      <vt:lpstr>Wildcards in Linux</vt:lpstr>
      <vt:lpstr>Wildcards I – Basics</vt:lpstr>
      <vt:lpstr>Wildcards II – Types</vt:lpstr>
      <vt:lpstr>Wildcards III – The *</vt:lpstr>
      <vt:lpstr>Wildcards IV – The ?</vt:lpstr>
      <vt:lpstr>Wildcards V – Combinations</vt:lpstr>
      <vt:lpstr>Exercise 07: First Wildcards</vt:lpstr>
      <vt:lpstr>Paths in Linux</vt:lpstr>
      <vt:lpstr>Paths I – Defintion [2]</vt:lpstr>
      <vt:lpstr>Paths II – Absolute paths</vt:lpstr>
      <vt:lpstr>Paths III – Relative paths</vt:lpstr>
      <vt:lpstr>find</vt:lpstr>
      <vt:lpstr>find I – Basics</vt:lpstr>
      <vt:lpstr>find II – Options I</vt:lpstr>
      <vt:lpstr>find III – Options II</vt:lpstr>
      <vt:lpstr>find IV – Options III</vt:lpstr>
      <vt:lpstr>find V – Options IV</vt:lpstr>
      <vt:lpstr>find VI – Search path</vt:lpstr>
      <vt:lpstr>find VII – Examples I</vt:lpstr>
      <vt:lpstr>find VIII – Examples II</vt:lpstr>
      <vt:lpstr>Exercise 08: use find</vt:lpstr>
      <vt:lpstr>wc</vt:lpstr>
      <vt:lpstr>wc I</vt:lpstr>
      <vt:lpstr>wc II</vt:lpstr>
      <vt:lpstr>wc III</vt:lpstr>
      <vt:lpstr>wc IV</vt:lpstr>
      <vt:lpstr>Exercise 09: Counting contents</vt:lpstr>
      <vt:lpstr>uniq</vt:lpstr>
      <vt:lpstr>uniq I</vt:lpstr>
      <vt:lpstr>uniq II</vt:lpstr>
      <vt:lpstr>uniq III</vt:lpstr>
      <vt:lpstr>uniq IV</vt:lpstr>
      <vt:lpstr>Exercise 10: Unique contents</vt:lpstr>
      <vt:lpstr>sort</vt:lpstr>
      <vt:lpstr>sort I</vt:lpstr>
      <vt:lpstr>sort II</vt:lpstr>
      <vt:lpstr>sort III</vt:lpstr>
      <vt:lpstr>sort IV</vt:lpstr>
      <vt:lpstr>sort V</vt:lpstr>
      <vt:lpstr>Exercise 11: Sorting your files</vt:lpstr>
      <vt:lpstr>Redirecting outputs</vt:lpstr>
      <vt:lpstr>Redirecting Outputs I</vt:lpstr>
      <vt:lpstr>Redirecting Outputs II</vt:lpstr>
      <vt:lpstr>Redirecting Outputs III</vt:lpstr>
      <vt:lpstr>cat</vt:lpstr>
      <vt:lpstr>cat I</vt:lpstr>
      <vt:lpstr>cat II</vt:lpstr>
      <vt:lpstr>Exercise 12: Looking at and combining files</vt:lpstr>
      <vt:lpstr>Pipes</vt:lpstr>
      <vt:lpstr>Pipes I</vt:lpstr>
      <vt:lpstr>Pipes II</vt:lpstr>
      <vt:lpstr>Pipes III</vt:lpstr>
      <vt:lpstr>Pipes IV</vt:lpstr>
      <vt:lpstr>Exercise 13: Piping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Commands</dc:title>
  <dc:creator>Christoph Knorr</dc:creator>
  <cp:lastModifiedBy>Christoph Knorr</cp:lastModifiedBy>
  <cp:revision>261</cp:revision>
  <cp:lastPrinted>2023-07-31T07:24:54Z</cp:lastPrinted>
  <dcterms:created xsi:type="dcterms:W3CDTF">2023-04-03T07:23:13Z</dcterms:created>
  <dcterms:modified xsi:type="dcterms:W3CDTF">2025-05-13T11:03:04Z</dcterms:modified>
</cp:coreProperties>
</file>